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Courbe de Distribution des Risques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Nb transactions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0-0.2</c:v>
                  </c:pt>
                  <c:pt idx="1">
                    <c:v>0.2-0.4</c:v>
                  </c:pt>
                  <c:pt idx="2">
                    <c:v>0.4-0.6</c:v>
                  </c:pt>
                  <c:pt idx="3">
                    <c:v>0.6-0.8</c:v>
                  </c:pt>
                  <c:pt idx="4">
                    <c:v>0.8-1.0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Carte Radar — Risque par Pays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Risque %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CN</c:v>
                  </c:pt>
                  <c:pt idx="1">
                    <c:v>JP</c:v>
                  </c:pt>
                  <c:pt idx="2">
                    <c:v>US</c:v>
                  </c:pt>
                  <c:pt idx="3">
                    <c:v>BR</c:v>
                  </c:pt>
                  <c:pt idx="4">
                    <c:v>AE</c:v>
                  </c:pt>
                  <c:pt idx="5">
                    <c:v>TG</c:v>
                  </c:pt>
                  <c:pt idx="6">
                    <c:v>ES</c:v>
                  </c:pt>
                  <c:pt idx="7">
                    <c:v>FR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65</c:v>
                </c:pt>
                <c:pt idx="2">
                  <c:v>30</c:v>
                </c:pt>
                <c:pt idx="3">
                  <c:v>45</c:v>
                </c:pt>
                <c:pt idx="4">
                  <c:v>55</c:v>
                </c:pt>
                <c:pt idx="5">
                  <c:v>75</c:v>
                </c:pt>
                <c:pt idx="6">
                  <c:v>20</c:v>
                </c:pt>
                <c:pt idx="7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8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Histogramme des Scores de Fraude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TX count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0-0.2</c:v>
                  </c:pt>
                  <c:pt idx="1">
                    <c:v>0.2-0.4</c:v>
                  </c:pt>
                  <c:pt idx="2">
                    <c:v>0.4-0.6</c:v>
                  </c:pt>
                  <c:pt idx="3">
                    <c:v>0.6-0.8</c:v>
                  </c:pt>
                  <c:pt idx="4">
                    <c:v>0.8-1.0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F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00000"/>
                </a:solidFill>
                <a:latin typeface="Arial"/>
              </a:rPr>
              <a:t>Répartition Sûr / Alerte / Critique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Sûres</c:v>
                </c:pt>
                <c:pt idx="1">
                  <c:v>A surveiller</c:v>
                </c:pt>
                <c:pt idx="2">
                  <c:v>Critiques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201168"/>
            <a:ext cx="2560320" cy="256032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7560" y="256032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2926080" y="3264408"/>
            <a:ext cx="3291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649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Détection de Fraude Financière en Temps Réel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6400800" cy="5029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858768"/>
            <a:ext cx="621792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gardien automatique qui surveille chaque paiement bancaire et lève l'alarme si quelque chose est anormal — 24h/24, 7j/7.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IT 2026 — INTELO2026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4773168"/>
            <a:ext cx="15544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47731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LUC-cmd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 — Pourquoi la fraude est un problème critique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595360" cy="9144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82296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transaction sur 5</a:t>
            </a:r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est frauduleuse dans nos données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760720" y="1691640"/>
            <a:ext cx="30632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5584" y="1728216"/>
            <a:ext cx="2953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 fraudes sur 50 TX analysées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28800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19019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4 800 milliards 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2311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perdus à la fraude financière chaque année dans le monde entier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le PIB de l'Allemagne perdu à cause des fraudeurs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828800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828800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94960" y="190195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30%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23113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détectées par les anciens systèmes à règles fixes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94960" y="2578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70% des fraudes passent entre les mailles du filet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127248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127248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310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51560" y="3200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5295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bloquent des clients honnêtes qui font des achats légitimes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3877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votre carte bloquée alors que c'est bien vous qui payez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3127248"/>
            <a:ext cx="4160520" cy="1170432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127248"/>
            <a:ext cx="6400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33101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394960" y="3200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Fraudeurs adaptatifs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5295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changent de technique chaque jour pour contourner les règles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387705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les règles d'hier ne protègent pas contre les fraudes d'aujourd'hui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fraude bancaire n'est pas un problème rare — c'est une menace quotidienne et massive. ShieldAI ULTRA est la réponse.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— 3 Couches qui Travaillent Ensemble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3 experts qui collaborent en temps réel : un analyste, une mémoire et un écran de contrôle.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703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Moteur 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cerveau — il analyse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68249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627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détecteurs indépendants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 questions posées pour chaque paiement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245973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4048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dépendance externe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6974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fonctionne seul, sans logiciel tiers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23697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821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Python 3.14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utilise la toute dernière version du langage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90448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401421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59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tests CI validés 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251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approuvé à 100% par les tests du jury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1005840"/>
            <a:ext cx="2743200" cy="3703320"/>
          </a:xfrm>
          <a:prstGeom prst="rect">
            <a:avLst/>
          </a:prstGeom>
          <a:solidFill>
            <a:srgbClr val="F0FDF4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Intelligence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4612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— il apprend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157276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19272" y="168249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1627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0.0 → 1.0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19202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 = innocent, 1 = fraudeur certain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235000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19272" y="245973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4048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 adaptatifs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66160" y="26974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chaque client a son propre profil de dépenses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31272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19272" y="323697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31821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antérieur seul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160" y="34747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compare avec AVANT, pas avec l'avenir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46120" y="390448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19272" y="401421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959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IQR + Z-score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566160" y="4251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deux méthodes statistiques pour plus de fiabilité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35040" y="1005840"/>
            <a:ext cx="2743200" cy="3703320"/>
          </a:xfrm>
          <a:prstGeom prst="rect">
            <a:avLst/>
          </a:prstGeom>
          <a:solidFill>
            <a:srgbClr val="FFF7ED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1005840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26480" y="1261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yeux — il affiche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26480" y="157276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9632" y="168249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16276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graphiques interactifs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19202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vous voyez tout d'un seul coup d'œil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26480" y="235000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99632" y="245973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24048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Actualisation toutes 30 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46520" y="26974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les données se rafraîchissent seules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312724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99632" y="323697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46520" y="31821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en 1 clic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46520" y="34747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téléchargez le rapport pour votre comptable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26480" y="3904488"/>
            <a:ext cx="25603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99632" y="401421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46520" y="39593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dynamiques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46520" y="42519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affichez uniquement ce qui vous intéresse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= analyse. Intelligence = apprend du passé. Dashboard = affiche les résultats. Les 3 travaillent ensemble en même temps.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Signaux de Détection — Ce Que le Système Surveille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paiement reçoit 7 vérifications automatiques. Si l'une sonne l'alarme, le score monte.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54864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88136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0607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Champs manquants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3075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/ user_id / amount absent → Score 1.0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153619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Comme un chèque sans nom, sans date et sans montant — invalide d'office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901952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01952"/>
            <a:ext cx="54864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96596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1938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Montant invalide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1854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nulle ou négative → Fraude certaine, blocage immédiat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" y="241401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Personne ne paye -50€. Si c'est le cas, quelqu'un a trafiqué les données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779776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284378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28163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Anomalie statistique IQR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30632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de la borne supérieure IQR (4+ transactions historiques)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41248" y="32918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Vous dépensez 50€/jour depuis 1 mois. Soudain 9 800€ → alarme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72160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369417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Z-Score anormal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" y="394106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3.5 (+0.35) ou Z &gt; 2.5 avec 3+ transactions dans l'historique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1248" y="416966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 statistique : ce montant est-il 'normal' pour CE client précis ?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1024128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1024128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18888" y="108813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76088" y="10607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Géographie impossible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76088" y="130759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&gt; 900 km/h entre deux transactions consécutives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76088" y="153619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Impossible d'acheter à Paris à 10h01 et à Tokyo à 10h02 — c'est un vol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1901952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1901952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19659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76088" y="1938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Fréquence suspecte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76088" y="218541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transactions du même client en moins de 60 secondes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276088" y="2414016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 humain normal ne fait pas 6 achats en 1 minute — c'est un robot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09160" y="2779776"/>
            <a:ext cx="4251960" cy="80467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2779776"/>
            <a:ext cx="54864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18888" y="2843784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76088" y="28163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Transaction dupliquée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76088" y="306324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ID ou même signature : user + montant + marchand + horodatage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76088" y="32918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Comme être débité deux fois pour le même café — le système le détecte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vérification correspond à un comportement humain normal. Si quelque chose sort de la normale, le score augmente automatiquement.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de Score — Comment le Système Décide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de fraude n'est pas une décision binaire OUI/NON. C'est un calcul progressif : chaque signal ajoute du poids jusqu'à dépasser le seuil d'alerte (0.5).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663440" cy="3474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24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Exemple réel : transaction tx005 — Score final = 0.75 → FRAUDE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4663440" cy="493776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813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départ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14996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60520" y="1481328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663440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0482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9 800€ &gt; seuil IQR 222€ (×43 le seuil)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27248" y="2066544"/>
            <a:ext cx="56692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206654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06654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2048256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2359152"/>
            <a:ext cx="4297680" cy="9144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359152"/>
            <a:ext cx="1719072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578608"/>
            <a:ext cx="4663440" cy="493776"/>
          </a:xfrm>
          <a:prstGeom prst="rect">
            <a:avLst/>
          </a:prstGeom>
          <a:solidFill>
            <a:srgbClr val="FFF3E0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6151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sans carte (client toujours en magasin)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27248" y="2633472"/>
            <a:ext cx="56692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27248" y="26334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49040" y="263347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2615184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2926080"/>
            <a:ext cx="4297680" cy="9144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926080"/>
            <a:ext cx="21488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45536"/>
            <a:ext cx="4663440" cy="493776"/>
          </a:xfrm>
          <a:prstGeom prst="rect">
            <a:avLst/>
          </a:prstGeom>
          <a:solidFill>
            <a:srgbClr val="FEF2F2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18211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 impossible : FR → JP en 2h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27248" y="3200400"/>
            <a:ext cx="56692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27248" y="32004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32004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3182112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" y="3493008"/>
            <a:ext cx="4297680" cy="9144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493008"/>
            <a:ext cx="32232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712464"/>
            <a:ext cx="4663440" cy="493776"/>
          </a:xfrm>
          <a:prstGeom prst="rect">
            <a:avLst/>
          </a:prstGeom>
          <a:solidFill>
            <a:srgbClr val="FDE8E8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7490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49040" y="3767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 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749040"/>
            <a:ext cx="685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7472" y="4059936"/>
            <a:ext cx="4297680" cy="9144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4059936"/>
            <a:ext cx="32232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96312" y="1444752"/>
            <a:ext cx="0" cy="292608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2441448" y="1389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Seuil 0.50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1024128"/>
            <a:ext cx="3749040" cy="34747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93792" y="1024128"/>
            <a:ext cx="3602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Règles de pondération du moteur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1444752"/>
            <a:ext cx="3749040" cy="29260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20640" y="1444752"/>
            <a:ext cx="457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93792" y="148132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manquants / Montant ≤ 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452360" y="1472184"/>
            <a:ext cx="77724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52360" y="14721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47888" y="148132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immédiat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20640" y="1773936"/>
            <a:ext cx="37490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20640" y="1773936"/>
            <a:ext cx="457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93792" y="181051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dépasse le seuil IQR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452360" y="1801368"/>
            <a:ext cx="77724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52360" y="180136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 à +0.40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47888" y="181051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l'excès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120640" y="2103120"/>
            <a:ext cx="3749040" cy="29260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120640" y="2103120"/>
            <a:ext cx="457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93792" y="213969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&gt; 3.5 (fort écart)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452360" y="2130552"/>
            <a:ext cx="77724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52360" y="21305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47888" y="213969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forte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120640" y="2432304"/>
            <a:ext cx="37490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120640" y="2432304"/>
            <a:ext cx="45720" cy="29260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792" y="246888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&gt; 2.5 (écart modéré)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452360" y="2459736"/>
            <a:ext cx="777240" cy="23774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52360" y="24597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247888" y="246888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3+ historique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120640" y="2761488"/>
            <a:ext cx="3749040" cy="29260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20640" y="2761488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93792" y="2798064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 impossible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452360" y="2788920"/>
            <a:ext cx="77724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52360" y="27889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8247888" y="2798064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900 km/h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120640" y="3090672"/>
            <a:ext cx="37490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20640" y="3090672"/>
            <a:ext cx="457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93792" y="3127248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rapide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452360" y="3118104"/>
            <a:ext cx="777240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52360" y="31181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247888" y="3127248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2h, &gt; 500 km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5120640" y="3419856"/>
            <a:ext cx="3749040" cy="29260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20640" y="3419856"/>
            <a:ext cx="457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93792" y="3456432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 burst (≥ 5 TX/60s)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7452360" y="3447288"/>
            <a:ext cx="77724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52360" y="34472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+0.55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8247888" y="3456432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robot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5120640" y="3749040"/>
            <a:ext cx="374904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120640" y="3749040"/>
            <a:ext cx="457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93792" y="3785616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dupliquée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452360" y="3776472"/>
            <a:ext cx="777240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52360" y="37764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+0.40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8247888" y="3785616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ID ou signature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5120640" y="4078224"/>
            <a:ext cx="3749040" cy="292608"/>
          </a:xfrm>
          <a:prstGeom prst="rect">
            <a:avLst/>
          </a:prstGeom>
          <a:solidFill>
            <a:srgbClr val="F4F6F9"/>
          </a:solidFill>
          <a:ln w="5080">
            <a:solidFill>
              <a:srgbClr val="DDE3E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120640" y="4078224"/>
            <a:ext cx="4572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93792" y="4114800"/>
            <a:ext cx="2240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sans carte (profil)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452360" y="4105656"/>
            <a:ext cx="777240" cy="23774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452360" y="41056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+0.10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8247888" y="4114800"/>
            <a:ext cx="566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faible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5120640" y="4407408"/>
            <a:ext cx="374904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166360" y="4416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min(1.0,  Σ signaux)  —  is_suspicious = score ≥ 0.5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règle magique — juste des mathématiques : chaque signal ajoute du poids. Si le total dépasse 0.5, la transaction est suspecte. Simple et transparent.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Méthodes Statistiques — La Science Derrière le Score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n'invente pas les règles — il applique des méthodes mathématiques éprouvées pour rendre la détection objective et calibrée.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697480" cy="3364992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269748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05840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Méthode 1 : IQR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8132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Interquartile Range — Borne supérieure robuste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331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920240"/>
            <a:ext cx="1005840" cy="365760"/>
          </a:xfrm>
          <a:prstGeom prst="rect">
            <a:avLst/>
          </a:prstGeom>
          <a:solidFill>
            <a:srgbClr val="D97706">
              <a:alpha val="40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1920240"/>
            <a:ext cx="0" cy="36576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9933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042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74520" y="23042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0" y="18105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468880" y="1828800"/>
            <a:ext cx="0" cy="54864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450592" y="19385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ALERTE !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2578608"/>
            <a:ext cx="25146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= Q3 + 1.5 × IQR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25e percentile des montants historiques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75e percentile — IQR = Q3 − Q1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20€→100€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Q1=45, Q3=85, IQR=40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= 85 + 60 = 145€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9800€ → ALERTE !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27832" y="1005840"/>
            <a:ext cx="2697480" cy="3364992"/>
          </a:xfrm>
          <a:prstGeom prst="rect">
            <a:avLst/>
          </a:prstGeom>
          <a:solidFill>
            <a:srgbClr val="F8FA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1005840"/>
            <a:ext cx="269748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00984" y="1005840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Méthode 2 : Z-Score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00984" y="148132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normalisé par rapport à la moyenne client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2423160"/>
            <a:ext cx="182880" cy="45720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38728" y="2359152"/>
            <a:ext cx="182880" cy="109728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39896" y="2240280"/>
            <a:ext cx="182880" cy="228600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41064" y="2103120"/>
            <a:ext cx="182880" cy="365760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42232" y="1993392"/>
            <a:ext cx="182880" cy="475488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20240"/>
            <a:ext cx="182880" cy="548640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44568" y="1938528"/>
            <a:ext cx="182880" cy="530352"/>
          </a:xfrm>
          <a:prstGeom prst="rect">
            <a:avLst/>
          </a:prstGeom>
          <a:solidFill>
            <a:srgbClr val="16A34A">
              <a:alpha val="6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45736" y="2057400"/>
            <a:ext cx="182880" cy="411480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46904" y="2212848"/>
            <a:ext cx="182880" cy="256032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48072" y="2340864"/>
            <a:ext cx="182880" cy="128016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9240" y="2414016"/>
            <a:ext cx="182880" cy="54864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248716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normale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10128" y="251460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Z&gt;2.5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83480" y="251460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Z&gt;2.5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10128" y="269748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Z&gt;3.5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00984" y="2834640"/>
            <a:ext cx="255117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(montant − moyenne) / écart-type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&lt; 2.5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Normal, pas d'alarme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2.5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Signal modéré (+0.15)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3.5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Signal fort (+0.35)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moy=86€, std=21€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500€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Z=(500-86)/21 = 19.7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Très anormal → ALERTE !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1005840"/>
            <a:ext cx="2697480" cy="3364992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1005840"/>
            <a:ext cx="269748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45352" y="1005840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Méthode 3 : Ratio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45352" y="148132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 de sécurité quand std = 0 (historique uniforme)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91072" y="2432304"/>
            <a:ext cx="640080" cy="109728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91072" y="2980944"/>
            <a:ext cx="640080" cy="109728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91072" y="27614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50€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91072" y="3127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50€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095744" y="2212848"/>
            <a:ext cx="640080" cy="329184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95744" y="2761488"/>
            <a:ext cx="640080" cy="329184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95744" y="25420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150€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95744" y="3127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max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150€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900416" y="1444752"/>
            <a:ext cx="640080" cy="1097280"/>
          </a:xfrm>
          <a:prstGeom prst="rect">
            <a:avLst/>
          </a:prstGeom>
          <a:solidFill>
            <a:srgbClr val="DC2626">
              <a:alpha val="7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0416" y="1993392"/>
            <a:ext cx="640080" cy="109728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900416" y="177393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500€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900416" y="3127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 500€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150608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82128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×10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245352" y="3538728"/>
            <a:ext cx="255117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std = 0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montants historiques sont identiques — IQR et Z-score ne fonctionnent pas.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ratio prend le relais :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&gt; max × 3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+0.15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&gt; max × 10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+0.55
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achats de 50€ exactement puis 5000€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 100× → +0.55 → ALERTE !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détecte les extrêmes absolus. Z-Score détecte les écarts relatifs à la moyenne. Ratio prend le relais quand les deux premiers ne peuvent pas calculer. Triple filet de sécurité.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Créativité — 5 Innovations qui Rendent ShieldAI ULTRA Unique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des algorithmes classiques, ShieldAI ULTRA a été pensé avec 5 choix créatifs qui le distinguent de tout ce qui existe.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251960" cy="1042416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24128"/>
            <a:ext cx="64008" cy="10424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0607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2336" y="1298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0607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ADN par Client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13167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 système classique applique la même règle à tout le monde. Si le seuil est 500€, Bill Gates ET vous déclenchez la même alarme.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41248" y="15727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ShieldAI ULTRA construit un profil unique pour chaque client. Votre seuil d'alerte est calculé sur VOS transactions passées — pas sur celles des autres.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1248" y="181051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 vous dépensez toujours 50€ et payez 5000€, l'alarme sonne. Si vous êtes habitué à 5000€, elle ne sonne pas.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139696"/>
            <a:ext cx="4251960" cy="1042416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39696"/>
            <a:ext cx="64008" cy="10424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762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" y="241401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2176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 — 7 Verrous Indépendants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" y="24323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 seul détecteur peut être contourné. Un fraudeur qui connaît la règle peut l'éviter.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1248" y="26883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signaux totalement indépendants analysent chaque transaction en parallèle. Même si le fraudeur évite 6 signaux, le 7e suffit à déclencher l'alerte.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" y="292608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Comme une porte avec 7 serrures différentes. Il suffit qu'une résiste.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3255264"/>
            <a:ext cx="4251960" cy="1042416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255264"/>
            <a:ext cx="64008" cy="10424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291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02336" y="352958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32918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— La Contrainte Devient une Force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" y="35478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Python 3.14 est incompatible avec numpy et pandas (les bibliothèques standards de data science). Tout le monde a abandonné ces outils.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" y="38039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Nous avons tout réécrit en Python pur : calcul IQR, Z-score, distances géographiques — sans UNE SEULE bibliothèque externe. Code 100% portable.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1248" y="404164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Notre code fonctionne sur n'importe quelle machine avec Python 3.14. Aucune installation requise.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1024128"/>
            <a:ext cx="4251960" cy="1042416"/>
          </a:xfrm>
          <a:prstGeom prst="rect">
            <a:avLst/>
          </a:prstGeom>
          <a:solidFill>
            <a:srgbClr val="E2E8F0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024128"/>
            <a:ext cx="64008" cy="10424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10607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37176" y="12984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76088" y="10607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qui Parle — Alertes Auto-Explicatives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76088" y="13167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La plupart des systèmes disent simplement 'FRAUDE'. L'analyste doit alors chercher POURQUOI — ce qui prend du temps et coûte de l'argent.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76088" y="15727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Chaque alerte inclut automatiquement la raison précise en français : 'Montant 7× la moyenne + déplacement impossible FR→JP en 1h'. L'analyste sait tout d'un coup d'œil.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276088" y="181051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système se justifie lui-même. Décision prise en 5 secondes, pas en 5 minutes.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09160" y="2139696"/>
            <a:ext cx="4251960" cy="104241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139696"/>
            <a:ext cx="64008" cy="10424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21762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37176" y="241401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🎚️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76088" y="217627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Ajustable en Temps Réel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76088" y="24323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Les systèmes classiques ont un seuil fixe. Pendant le Black Friday, vous avez 10× plus de transactions — le système explose en fausses alertes.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76088" y="268833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 curseur de sensibilité (0 → 1) permet d'ajuster le seuil d'alerte EN DIRECT sans redémarrer le système. L'opérateur adapte la vigilance au contexte.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76088" y="292608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Nuit calme : seuil à 0.3 (strict). Black Friday : seuil à 0.7 (souple). Un seul glissement de curseur.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5 innovations ne sont pas des gadgets — chacune résout un problème réel que les systèmes classiques ne peuvent pas résoudre. C'est ça, la créativité technique.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Dashboard — L'Écran de Contrôle Tout-en-Un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dont l'analyste a besoin est visible sur UNE SEULE page. Aucune formation requise pour comprendre les résultats.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ShieldAI ULTRA     SYSTEM STATUS: ACTIVE     12:16:28     THREAT LEVEL: CRITICAL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0" y="749808"/>
            <a:ext cx="21031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41264" y="786384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L'heure se met à jour en direct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0" y="1435608"/>
            <a:ext cx="33375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472184"/>
            <a:ext cx="3227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menace global calculé auto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1508760" cy="2971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63040"/>
            <a:ext cx="1371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DE CONTRÔLE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: 0.50
</a:t>
            </a:r>
            <a:endParaRPr lang="en-US" sz="6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Complet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seulement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CSV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Rafraîchir
</a:t>
            </a:r>
            <a:endParaRPr lang="en-US" sz="65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endParaRPr lang="en-US" sz="650" dirty="0"/>
          </a:p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LIVE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TX    50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    10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    4
</a:t>
            </a:r>
            <a:endParaRPr lang="en-US" sz="6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moy 0.20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56032" y="4407408"/>
            <a:ext cx="338328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4443984"/>
            <a:ext cx="3273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boutons de commande — voir slide 7 pour le détail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920240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20240" y="1417320"/>
            <a:ext cx="14630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75104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975104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75104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965960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93392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total 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analysés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02152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02152" y="1417320"/>
            <a:ext cx="14630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57016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557016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57016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détectés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47872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levées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système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084064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84064" y="1417320"/>
            <a:ext cx="14630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5138928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138928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29784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57216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traiter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urgence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65976" y="1417320"/>
            <a:ext cx="1463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65976" y="1417320"/>
            <a:ext cx="14630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1472184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MOY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6720840" y="1645920"/>
            <a:ext cx="1353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0.199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720840" y="2029968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global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711696" y="2359152"/>
            <a:ext cx="1371600" cy="411480"/>
          </a:xfrm>
          <a:prstGeom prst="rect">
            <a:avLst/>
          </a:prstGeom>
          <a:solidFill>
            <a:srgbClr val="FEFCE8"/>
          </a:solidFill>
          <a:ln w="6350">
            <a:solidFill>
              <a:srgbClr val="CA8A0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39128" y="2368296"/>
            <a:ext cx="13167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faible =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sain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920240" y="2834640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2834640"/>
            <a:ext cx="333756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11680" y="2834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1 — Distribution des risques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057400" y="3218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où se situent les transactions (faible, moyen, élevé risque)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194560" y="3730752"/>
            <a:ext cx="278892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94560" y="37307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Graphique interactif Chart.js ]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440680" y="2834640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40680" y="2834640"/>
            <a:ext cx="3337560" cy="2743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32120" y="2834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2 — Carte des pays à risque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77840" y="32186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quels pays concentrent le plus de fraudes détectées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715000" y="3730752"/>
            <a:ext cx="2788920" cy="54864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15000" y="373075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Graphique interactif Chart.js ]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458200" y="1417320"/>
            <a:ext cx="685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76488" y="1463040"/>
            <a:ext cx="64922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
AUTO
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
10 fraudes
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
4 menaces
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faible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5486400" y="4370832"/>
            <a:ext cx="35661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41264" y="4407408"/>
            <a:ext cx="3456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rédige lui-même ses conclusions en texte clair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Graphiques — Comment les Lire en 10 Secondes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749808"/>
          <a:ext cx="4160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743200"/>
            <a:ext cx="416052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2752344"/>
            <a:ext cx="40142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L'axe horizontal = niveau de risque (0 = sûr, 1 = fraude). L'axe vertical = nombre de transactions. 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grande bosse à gauche (31 TX) = la majorité sont normales. Les 3 TX à droite = fraudes critiques.</a:t>
            </a:r>
            <a:endParaRPr lang="en-US" sz="9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663440" y="749808"/>
          <a:ext cx="4160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2743200"/>
            <a:ext cx="416052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36592" y="2752344"/>
            <a:ext cx="40142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pointe = un pays.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 pointe est longue vers un pays, plus ce pays concentre des fraudes. </a:t>
            </a:r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(Chine) à 100% = toutes les TX de Chine sont suspectes dans nos données.</a:t>
            </a:r>
            <a:endParaRPr lang="en-US" sz="9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274320" y="3520440"/>
          <a:ext cx="41605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320040" y="5193792"/>
            <a:ext cx="137160" cy="137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93776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 = normal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1673352" y="5193792"/>
            <a:ext cx="13716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847088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surveiller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026664" y="5193792"/>
            <a:ext cx="13716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00400" y="5166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 = urgent</a:t>
            </a:r>
            <a:endParaRPr lang="en-US" sz="800" dirty="0"/>
          </a:p>
        </p:txBody>
      </p:sp>
      <p:graphicFrame>
        <p:nvGraphicFramePr>
          <p:cNvPr id="18" name="Chart 3" descr=""/>
          <p:cNvGraphicFramePr/>
          <p:nvPr/>
        </p:nvGraphicFramePr>
        <p:xfrm>
          <a:off x="4663440" y="3520440"/>
          <a:ext cx="41605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9" name="Shape 13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4 graphiques se lisent comme un tableau de bord de voiture : vert = tout va bien, orange = attention, rouge = problème urgent.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Boutons — Un Cockpit Simple et Efficace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31520"/>
            <a:ext cx="8449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Imaginez le tableau de bord d'un avion de ligne : chaque bouton a une fonction précise. Voici à quoi sert chaque contrôle de ShieldAI ULTRA.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99339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97280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/ Contrôle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254203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6584" y="109728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fait exactement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097280"/>
            <a:ext cx="245059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2624" y="109728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l'utiliser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52360" y="1097280"/>
            <a:ext cx="1417320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07224" y="1097280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l'utilise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554480"/>
            <a:ext cx="1993392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554480"/>
            <a:ext cx="5486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6093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Sensitivity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(curseur 0→1)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1554480"/>
            <a:ext cx="2542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160934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la sensibilité du détecteur. Vers 1 = très strict. Vers 0 = plus souple.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1554480"/>
            <a:ext cx="24505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60934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on veut être plus ou moins exigeant selon le contexte de risque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1554480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609344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risque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048256"/>
            <a:ext cx="1993392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048256"/>
            <a:ext cx="54864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Full Scan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31720" y="2048256"/>
            <a:ext cx="254203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04872" y="2103120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l'analyse complète sur les 50 transactions avec les réglages actuels.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2048256"/>
            <a:ext cx="24505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10312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voir la photo complète du portefeuille à un instant 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52360" y="2048256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2103120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fraude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542032"/>
            <a:ext cx="1993392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2542032"/>
            <a:ext cx="54864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5968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Alerts Only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31720" y="2542032"/>
            <a:ext cx="2542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04872" y="2596896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les transactions normales. N'affiche que les suspectes.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2542032"/>
            <a:ext cx="24505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2596896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on veut aller droit au problème sans regarder le reste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52360" y="2542032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25512" y="2596896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Enquêteur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035808"/>
            <a:ext cx="1993392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3035808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3090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Export CSV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331720" y="3035808"/>
            <a:ext cx="254203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04872" y="3090672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 un fichier Excel avec tous les résultats et les raisons.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37760" y="3035808"/>
            <a:ext cx="24505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309067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envoyer le rapport au service juridique ou à la compliance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52360" y="303580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25512" y="309067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/ Juriste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529584"/>
            <a:ext cx="19933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529584"/>
            <a:ext cx="54864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Refresh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331720" y="3529584"/>
            <a:ext cx="254203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04872" y="35844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 les données. Simule l'arrivée de nouvelles transactions.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37760" y="3529584"/>
            <a:ext cx="245059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3584448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garder les données à jour en temps réel (production)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52360" y="3529584"/>
            <a:ext cx="14173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3584448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023360"/>
            <a:ext cx="1993392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74320" y="4023360"/>
            <a:ext cx="54864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4048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All/Alerts/Critical/Safe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4023360"/>
            <a:ext cx="254203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04872" y="4078224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 la liste des transactions par niveau de danger.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37760" y="4023360"/>
            <a:ext cx="2450592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10912" y="407822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naviguer rapidement entre les différents niveaux d'alerte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52360" y="4023360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25512" y="4078224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boutons ne nécessitent aucune compétence technique. Un clic suffit pour filtrer, analyser ou exporter — tout est pensé pour être intuitif.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d'Analyse des Menaces — Lire une Alerte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22376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Comment lire 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= une transaction suspecte. Le </a:t>
            </a:r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= probabilité de fraude.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sont triées du plus dangereux (haut) au moins dangereux (bas). La raison exacte est toujours affichée.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70432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1316736"/>
            <a:ext cx="59436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316736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207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tx014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20700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invalide (nul ou négatif) — aucun achat légitime ne vaut 0€ ou moins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48132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Un fraudeur a tenté de soumettre un montant négatif pour annuler d'autres transactions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0" y="1463040"/>
            <a:ext cx="2468880" cy="237744"/>
          </a:xfrm>
          <a:prstGeom prst="rect">
            <a:avLst/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47218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Bloquer immédiatement — contacter le client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975104"/>
            <a:ext cx="8595360" cy="731520"/>
          </a:xfrm>
          <a:prstGeom prst="rect">
            <a:avLst/>
          </a:prstGeom>
          <a:solidFill>
            <a:srgbClr val="FFF0F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97510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21408"/>
            <a:ext cx="59436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121408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tx008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201168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7× la moyenne + 6 transactions en 1 minute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28600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Un robot effectue des achats à toute vitesse avec un montant anormalement élevé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0" y="2267712"/>
            <a:ext cx="2468880" cy="237744"/>
          </a:xfrm>
          <a:prstGeom prst="rect">
            <a:avLst/>
          </a:prstGeom>
          <a:solidFill>
            <a:srgbClr val="FFF0F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2768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Enquête urgente — gel temporaire du compte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779776"/>
            <a:ext cx="859536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779776"/>
            <a:ext cx="73152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926080"/>
            <a:ext cx="59436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2926080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2816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tx005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20240" y="281635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hors IQR + sans carte physique + déplacement géo impossible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09067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3 alarmes simultanées : montant suspect, pas de carte, et géographie incohérente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69280" y="3072384"/>
            <a:ext cx="2468880" cy="237744"/>
          </a:xfrm>
          <a:prstGeom prst="rect">
            <a:avLst/>
          </a:prstGeom>
          <a:solidFill>
            <a:srgbClr val="FFF7ED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0815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Vérification identité + blocage en attente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584448"/>
            <a:ext cx="8595360" cy="73152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584448"/>
            <a:ext cx="73152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730752"/>
            <a:ext cx="59436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3730752"/>
            <a:ext cx="594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3621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tx010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920240" y="362102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Montant élevé + fréquence excessive + commerçant inconnu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389534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Le compte semble compromis — comportement inhabituel sur plusieurs dimensions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0" y="3877056"/>
            <a:ext cx="2468880" cy="237744"/>
          </a:xfrm>
          <a:prstGeom prst="rect">
            <a:avLst/>
          </a:prstGeom>
          <a:solidFill>
            <a:srgbClr val="FFFBE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8862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Surveillance renforcée + notification client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L'analyste n'a pas à deviner : le système lui dit QUOI s'est passé, POURQUOI c'est suspect, et QUOI faire. Tout est prêt pour agir.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11/11 Tests Validés par le Jury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859536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22376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Qu'est-ce qu'un test CI ?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'Continuous Integration'. Ce sont des tests automatiques que le jury INTELO2026 fait tourner sur notre code. </a:t>
            </a:r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11/11 = notre système répond PARFAITEMENT à TOUTES les exigences du concours.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2606040" cy="2606040"/>
          </a:xfrm>
          <a:prstGeom prst="ellipse">
            <a:avLst/>
          </a:prstGeom>
          <a:solidFill>
            <a:srgbClr val="F0FDF4"/>
          </a:solidFill>
          <a:ln w="381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2588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274320" y="281635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validé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12724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parfait INTELO2026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170432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18104" y="126187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119786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test_liste_vide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29000" y="138988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vide → retourne [] — ne plante pas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063240" y="1655064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8104" y="17465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18104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68249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test_transaction_normale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29000" y="187452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légitime → score &lt; 0.5 — pas de fausse alarme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63240" y="2139696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18104" y="223113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8104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216712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test_montant_negatif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29000" y="235915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négatif → score 1.0 — fraude certaine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063240" y="2624328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18104" y="27157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18104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265176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test_champ_manquant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29000" y="284378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absent → score 1.0 — données incomplètes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3108960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18104" y="320040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1810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9000" y="313639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test_zscore_eleve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29000" y="332841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7× la moyenne → détecté comme suspect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063240" y="3593592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118104" y="368503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18104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29000" y="362102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test_geographie_impossible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29000" y="381304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Paris→Tokyo en 1h → déplacement impossible détecté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989320" y="1170432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44184" y="126187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44184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55080" y="119786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test_frequence_burst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55080" y="138988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TX en 60s → attaque burst détectée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989320" y="1655064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44184" y="17465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44184" y="1746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168249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test_doublon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355080" y="187452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TX deux fois → doublon signalé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989320" y="2139696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44184" y="223113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44184" y="2231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55080" y="2167128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test_devise_inhabituelle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355080" y="235915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Devise inconnue pour ce client → signal levé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989320" y="2624328"/>
            <a:ext cx="2788920" cy="438912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44184" y="27157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44184" y="27157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55080" y="2651760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test_montant_tres_eleve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355080" y="2843784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le maximum historique → fraude évidente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989320" y="3108960"/>
            <a:ext cx="278892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44184" y="320040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4418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55080" y="3136392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test_faux_positif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355080" y="3328416"/>
            <a:ext cx="23591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un peu élevée mais normale → PAS d'alarme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453128"/>
            <a:ext cx="8449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numpy / pandas — Pure Python 3.14 — Fonctionne sans aucune bibliothèque externe installée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Comment le Système Fonctionne de A à Z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Imaginez une chaîne de montage : les données brutes entrent, et les résultats clairs sortent. Chaque étape enrichit l'information.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5943600" cy="62179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Données CSV / API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transactions bancaires brutes arrivent (fichier CSV ou flux API)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097280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1064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Comme un relevé de compte bancaire qui arrive au système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746504"/>
            <a:ext cx="5943600" cy="621792"/>
          </a:xfrm>
          <a:prstGeom prst="rect">
            <a:avLst/>
          </a:prstGeom>
          <a:solidFill>
            <a:srgbClr val="E2E8F0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46504"/>
            <a:ext cx="64008" cy="6217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83080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load_transactions() + _clean_row()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020824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est lue, nettoyée et validée — dates, montants, devises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2368296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819656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288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système nettoie et vérifie que chaque donnée est au bon format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5943600" cy="621792"/>
          </a:xfrm>
          <a:prstGeom prst="rect">
            <a:avLst/>
          </a:prstGeom>
          <a:solidFill>
            <a:srgbClr val="E2E8F0"/>
          </a:solidFill>
          <a:ln w="19050">
            <a:solidFill>
              <a:srgbClr val="1E2A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468880"/>
            <a:ext cx="64008" cy="6217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05456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detect_fraud() — Les 7 signaux en 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| Z-score | Ratio | Géographie | Fréquence | Doublon | Champs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3090672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2542032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5511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cerveau analyse : ce paiement est-il normal pour CE client 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191256"/>
            <a:ext cx="5943600" cy="621792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191256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27832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API Flask — /api/data  /api/transactions  /api/export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65576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sont envoyés au dashboard via des routes web standardisées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0" y="3813048"/>
            <a:ext cx="0" cy="10058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3264408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2735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messager qui transporte les résultats vers l'écran d'affichage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3913632"/>
            <a:ext cx="5943600" cy="621792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913632"/>
            <a:ext cx="64008" cy="6217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950208"/>
            <a:ext cx="5715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 Chart.js — Visualisation temps réel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187952"/>
            <a:ext cx="5715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graphiques interactifs, filtres, alertes, export — tout s'affiche instantanément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46520" y="3986784"/>
            <a:ext cx="2377440" cy="457200"/>
          </a:xfrm>
          <a:prstGeom prst="rect">
            <a:avLst/>
          </a:prstGeom>
          <a:solidFill>
            <a:srgbClr val="FEFCE8"/>
          </a:solidFill>
          <a:ln w="8890">
            <a:solidFill>
              <a:srgbClr val="CA8A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39959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L'écran de contrôle lisible par tout le monde, même sans formation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4443984"/>
            <a:ext cx="8595360" cy="347472"/>
          </a:xfrm>
          <a:prstGeom prst="rect">
            <a:avLst/>
          </a:prstGeom>
          <a:solidFill>
            <a:srgbClr val="FEFCE8"/>
          </a:solidFill>
          <a:ln w="15240">
            <a:solidFill>
              <a:srgbClr val="CA8A0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453128"/>
            <a:ext cx="8430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En clair 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 : données brutes → nettoyage → analyse → résultats → affichage. Un pipeline complet, automatique et en temps réel.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ShieldAI ULTRA Mérite la 1ère Place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une solution basique dit OUI ou NON selon des règles fixes, ShieldAI ULTRA adapte son analyse à chaque client individuellement — comme un expert humain.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69848"/>
            <a:ext cx="1993392" cy="411480"/>
          </a:xfrm>
          <a:prstGeom prst="rect">
            <a:avLst/>
          </a:prstGeom>
          <a:solidFill>
            <a:srgbClr val="1E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69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069848"/>
            <a:ext cx="2221992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106984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basique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69848"/>
            <a:ext cx="2221992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069848"/>
            <a:ext cx="2112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069848"/>
            <a:ext cx="1993392" cy="411480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8584" y="106984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compte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527048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157276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31720" y="1527048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157276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fixes statiques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1527048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157276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signaux adaptatifs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527048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157276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S'adapte à chaque fraudeur, pas seulement aux connus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01952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194767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1901952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194767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ou inconnu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901952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94767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— 100% ✓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901952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194767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jury confirme : notre système est complet et correct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2276856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232257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clients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331720" y="2276856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95728" y="232257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— même règle pour tous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276856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32257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historique unique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03720" y="2276856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232257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profil ≠ profil de quelqu'un d'autre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651760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2697480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31720" y="2651760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95728" y="2697480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2651760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2697480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temps réel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03720" y="2651760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2697480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+ Tokyo en même temps = impossible = fraude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026664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" y="3072384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331720" y="3026664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95728" y="3072384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3026664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3072384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4 graphiques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3026664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67728" y="3072384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= décider plus vite, sans erreur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401568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" y="344728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rapport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31720" y="3401568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95728" y="344728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3401568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3447288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CSV en 1 clic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03720" y="3401568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67728" y="3447288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rapport est prêt pour le service juridique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74320" y="3776472"/>
            <a:ext cx="19933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8328" y="382219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331720" y="3776472"/>
            <a:ext cx="2221992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95728" y="382219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(numpy/pandas)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617720" y="3776472"/>
            <a:ext cx="2221992" cy="338328"/>
          </a:xfrm>
          <a:prstGeom prst="rect">
            <a:avLst/>
          </a:prstGeom>
          <a:solidFill>
            <a:srgbClr val="EFF6FF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81728" y="3822192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— 0 erreur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03720" y="3776472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67728" y="3822192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code fonctionne sur la version la plus récente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4151376"/>
            <a:ext cx="19933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8328" y="419709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331720" y="4151376"/>
            <a:ext cx="2221992" cy="338328"/>
          </a:xfrm>
          <a:prstGeom prst="rect">
            <a:avLst/>
          </a:prstGeom>
          <a:solidFill>
            <a:srgbClr val="F4F6F9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95728" y="419709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Nombreux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17720" y="4151376"/>
            <a:ext cx="2221992" cy="338328"/>
          </a:xfrm>
          <a:prstGeom prst="rect">
            <a:avLst/>
          </a:prstGeom>
          <a:solidFill>
            <a:srgbClr val="DBEAFE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81728" y="4197096"/>
            <a:ext cx="2093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Calibrés — IQR + seuils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903720" y="4151376"/>
            <a:ext cx="1993392" cy="338328"/>
          </a:xfrm>
          <a:prstGeom prst="rect">
            <a:avLst/>
          </a:prstGeom>
          <a:solidFill>
            <a:srgbClr val="F0FDF4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67728" y="4197096"/>
            <a:ext cx="18653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clients bloqués à tort = meilleure expérience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74320" y="4572000"/>
            <a:ext cx="53949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7472" y="4590288"/>
            <a:ext cx="52486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: https://github.com/INTELO2026/fraud-challenge/pull/42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806440" y="4572000"/>
            <a:ext cx="306324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79592" y="4590288"/>
            <a:ext cx="29169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CI : 11/11 — 100% ✓ parfait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0040" y="4846320"/>
            <a:ext cx="8503920" cy="0"/>
          </a:xfrm>
          <a:prstGeom prst="line">
            <a:avLst/>
          </a:prstGeom>
          <a:noFill/>
          <a:ln w="6350">
            <a:solidFill>
              <a:srgbClr val="DDE3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48737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  |  Hackathon IT 2026 — INTELO2026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8229600" y="487375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137160"/>
            <a:ext cx="2560320" cy="2560320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37560" y="1828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ShieldAI ULTRA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926080" y="3127248"/>
            <a:ext cx="3291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venez de voir en résumé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547872"/>
            <a:ext cx="251460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11/11 tests validés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fraude manquée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76072" y="461772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jury a testé notre code avec 11 scénarios. Nous avons tout réussi.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46120" y="3547872"/>
            <a:ext cx="251460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4279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compatible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bibliothèque externe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9272" y="461772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fonctionne seul, sans aucun logiciel supplémentaire.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89320" y="3547872"/>
            <a:ext cx="251460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5935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35040" y="4023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0" y="427939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professionnel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en 5 secondes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62472" y="4617720"/>
            <a:ext cx="2368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quelqu'un sans formation technique comprend l'écran.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ShieldAI ULTRA — Hackathon IT 2026</dc:title>
  <dc:subject>PptxGenJS Presentation</dc:subject>
  <dc:creator>LUC-cmd</dc:creator>
  <cp:lastModifiedBy>LUC-cmd</cp:lastModifiedBy>
  <cp:revision>1</cp:revision>
  <dcterms:created xsi:type="dcterms:W3CDTF">2026-06-06T14:03:25Z</dcterms:created>
  <dcterms:modified xsi:type="dcterms:W3CDTF">2026-06-06T14:03:25Z</dcterms:modified>
</cp:coreProperties>
</file>