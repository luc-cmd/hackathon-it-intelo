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Risk Distribution Timeline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0-0.2</c:v>
                  </c:pt>
                  <c:pt idx="1">
                    <c:v>0.2-0.4</c:v>
                  </c:pt>
                  <c:pt idx="2">
                    <c:v>0.4-0.6</c:v>
                  </c:pt>
                  <c:pt idx="3">
                    <c:v>0.6-0.8</c:v>
                  </c:pt>
                  <c:pt idx="4">
                    <c:v>0.8-1.0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Country Risk Heatmap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%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CN</c:v>
                  </c:pt>
                  <c:pt idx="1">
                    <c:v>JP</c:v>
                  </c:pt>
                  <c:pt idx="2">
                    <c:v>US</c:v>
                  </c:pt>
                  <c:pt idx="3">
                    <c:v>BR</c:v>
                  </c:pt>
                  <c:pt idx="4">
                    <c:v>AE</c:v>
                  </c:pt>
                  <c:pt idx="5">
                    <c:v>TG</c:v>
                  </c:pt>
                  <c:pt idx="6">
                    <c:v>ES</c:v>
                  </c:pt>
                  <c:pt idx="7">
                    <c:v>FR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65</c:v>
                </c:pt>
                <c:pt idx="2">
                  <c:v>30</c:v>
                </c:pt>
                <c:pt idx="3">
                  <c:v>45</c:v>
                </c:pt>
                <c:pt idx="4">
                  <c:v>55</c:v>
                </c:pt>
                <c:pt idx="5">
                  <c:v>75</c:v>
                </c:pt>
                <c:pt idx="6">
                  <c:v>20</c:v>
                </c:pt>
                <c:pt idx="7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8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Score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TX count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0-0.2</c:v>
                  </c:pt>
                  <c:pt idx="1">
                    <c:v>0.2-0.4</c:v>
                  </c:pt>
                  <c:pt idx="2">
                    <c:v>0.4-0.6</c:v>
                  </c:pt>
                  <c:pt idx="3">
                    <c:v>0.6-0.8</c:v>
                  </c:pt>
                  <c:pt idx="4">
                    <c:v>0.8-1.0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F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Alert Breakdown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Safe</c:v>
                </c:pt>
                <c:pt idx="1">
                  <c:v>Warning</c:v>
                </c:pt>
                <c:pt idx="2">
                  <c:v>Critical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228600"/>
            <a:ext cx="2560320" cy="256032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37560" y="2743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926080" y="3337560"/>
            <a:ext cx="3291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290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Détection de Fraude Financière en Temps Réel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IT 2026 — INTELO2026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4480560"/>
            <a:ext cx="15544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4480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LUC-cmd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 — Pourquoi la fraude est un problème critique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9601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82296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transaction sur 5</a:t>
            </a:r>
            <a:pPr algn="ctr"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est frauduleuse dans nos données de test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16052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7452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1984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4 800 milliards 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5000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 à la fraude financière chaque année dans le monde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874520"/>
            <a:ext cx="416052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87452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1984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30%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235000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fraudes détectées par les systèmes de règles classiques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416052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20040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51560" y="33101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67588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bloquent des clients légitimes et dégradent l'expérience utilisateur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3200400"/>
            <a:ext cx="4160520" cy="11887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20040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94960" y="33101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Fraudeurs adaptatifs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67588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évoluent en temps réel pour contourner les règles statiques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— Notre Architecture en 3 Couches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4023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Moteur Python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62763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51790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multi-signaux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28600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17627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détecteurs indépendants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61488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944368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83464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dépendance externe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60273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49300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Python 3.14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78224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4261104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415137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tests CI validés ✓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4680" y="777240"/>
            <a:ext cx="2743200" cy="4023360"/>
          </a:xfrm>
          <a:prstGeom prst="rect">
            <a:avLst/>
          </a:prstGeom>
          <a:solidFill>
            <a:srgbClr val="F0FDF4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777240"/>
            <a:ext cx="274320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777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246120" y="1444752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9272" y="1627632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5304" y="151790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fraude 0.0 → 1.0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210312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9272" y="228600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75304" y="217627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clients adaptatifs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46120" y="2761488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9272" y="2944368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75304" y="283464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strictement antérieur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46120" y="3419856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9272" y="360273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75304" y="349300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IQR + Z-score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46120" y="4078224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19272" y="4261104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75304" y="415137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calibrés ajustables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35040" y="777240"/>
            <a:ext cx="2743200" cy="4023360"/>
          </a:xfrm>
          <a:prstGeom prst="rect">
            <a:avLst/>
          </a:prstGeom>
          <a:solidFill>
            <a:srgbClr val="FFF7ED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777240"/>
            <a:ext cx="27432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777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126480" y="1444752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162763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55664" y="151790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Chart.js 4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99632" y="228600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217627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graphiques interactifs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26480" y="2761488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9632" y="294436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55664" y="283464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Actualisation toutes 30 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26480" y="3419856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99632" y="360273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55664" y="349300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en un clic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26480" y="4078224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99632" y="426110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55664" y="415137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dynamiques temps réel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Signaux de Détection Intelligents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transaction est analysée simultanément selon 7 dimensions indépendantes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5196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54864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07008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9536" y="1069848"/>
            <a:ext cx="3593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Champs manquants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9536" y="1408176"/>
            <a:ext cx="3593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/ user_id / amount absent → Score 1.0 automatique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425196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38528"/>
            <a:ext cx="54864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121408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" y="1984248"/>
            <a:ext cx="3593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Montant invalide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" y="2322576"/>
            <a:ext cx="3593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nulle ou négative → Fraude certaine, blocage immédiat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425196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52928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03580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" y="2898648"/>
            <a:ext cx="3593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Anomalie IQR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236976"/>
            <a:ext cx="3593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borne supérieure IQR (4+ transactions requises)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425196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67328"/>
            <a:ext cx="5486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95020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" y="3813048"/>
            <a:ext cx="3593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Z-Score statistique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9536" y="4151376"/>
            <a:ext cx="3593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Z &gt; 3.5 (+0.35 score) ou modéré Z &gt; 2.5 avec 3+ historique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1024128"/>
            <a:ext cx="425196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1024128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18888" y="120700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94376" y="1069848"/>
            <a:ext cx="3593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Géographie impossible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94376" y="1408176"/>
            <a:ext cx="3593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&gt; 900 km/h entre deux transactions consécutives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1938528"/>
            <a:ext cx="425196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1938528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18888" y="212140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94376" y="1984248"/>
            <a:ext cx="3593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Fréquence suspecte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294376" y="2322576"/>
            <a:ext cx="3593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transactions du même client en moins de 60 secondes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852928"/>
            <a:ext cx="425196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2852928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18888" y="303580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94376" y="2898648"/>
            <a:ext cx="3593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Transaction dupliquée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294376" y="3236976"/>
            <a:ext cx="3593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ID ou même signature métier (user + montant + marchand + ts)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0" y="4663440"/>
            <a:ext cx="402336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0" y="466344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11/11 tests CI validés — Score parfait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ShieldAI ULTRA — Interface Temps Réel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ShieldAI ULTRA     SYSTEM STATUS: ACTIVE     12:16:28     THREAT LEVEL: CRITICAL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1508760" cy="3474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1371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CONTROL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0.50
</a:t>
            </a:r>
            <a:endParaRPr lang="en-US" sz="6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Only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
</a:t>
            </a:r>
            <a:endParaRPr lang="en-US" sz="6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TX    50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     10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   4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 0.20
</a:t>
            </a:r>
            <a:endParaRPr lang="en-US" sz="6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
</a:t>
            </a:r>
            <a:endParaRPr lang="en-US" sz="6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7-Signal Detection
</a:t>
            </a:r>
            <a:endParaRPr lang="en-US" sz="6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
</a:t>
            </a:r>
            <a:endParaRPr lang="en-US" sz="6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920240" y="1207008"/>
            <a:ext cx="1463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207008"/>
            <a:ext cx="1463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75104" y="126187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975104" y="146304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75104" y="184708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502152" y="1207008"/>
            <a:ext cx="1463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2152" y="1207008"/>
            <a:ext cx="1463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7016" y="126187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557016" y="146304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57016" y="184708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detected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84064" y="1207008"/>
            <a:ext cx="1463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1207008"/>
            <a:ext cx="14630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126187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138928" y="146304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38928" y="184708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65976" y="1207008"/>
            <a:ext cx="1463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65976" y="1207008"/>
            <a:ext cx="14630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26187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AVG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720840" y="146304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20840" y="184708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moyen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920240" y="2176272"/>
            <a:ext cx="3291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0240" y="2176272"/>
            <a:ext cx="3291840" cy="2926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1762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 Timeline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031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— distribution par tranche de score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0" y="3090672"/>
            <a:ext cx="256032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09067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Graphique interactif Chart.js ]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49240" y="2176272"/>
            <a:ext cx="3291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49240" y="2176272"/>
            <a:ext cx="3291840" cy="2926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21762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Risk Heatmap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321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CN / JP / US / FR … risque par pays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15000" y="3090672"/>
            <a:ext cx="256032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309067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Graphique interactif Chart.js ]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412480" y="1207008"/>
            <a:ext cx="1005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0768" y="1261872"/>
            <a:ext cx="960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
</a:t>
            </a:r>
            <a:endParaRPr lang="en-US" sz="6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fraudes (20%)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[CRITICAL]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threats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[GOOD]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overall
</a:t>
            </a:r>
            <a:endParaRPr lang="en-US" sz="6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PATTERNS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= 100% risque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anomalies crit.
</a:t>
            </a:r>
            <a:endParaRPr lang="en-US" sz="6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STATS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Countries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TX analysees
</a:t>
            </a:r>
            <a:endParaRPr lang="en-US" sz="65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995 EUR moyenne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920240" y="4297680"/>
            <a:ext cx="649224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65960" y="4315968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disponible sur : http://localhost:5000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Graphiques Interactifs en Temps Réel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49808"/>
          <a:ext cx="42519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17720" y="749808"/>
          <a:ext cx="42519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274320" y="2880360"/>
          <a:ext cx="42519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3" descr=""/>
          <p:cNvGraphicFramePr/>
          <p:nvPr/>
        </p:nvGraphicFramePr>
        <p:xfrm>
          <a:off x="4617720" y="2880360"/>
          <a:ext cx="42519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3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11" name="Text 5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Dynamiques — Chaque Bouton a un Rôle Précis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57400" cy="438912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77240"/>
            <a:ext cx="1911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/ Contrôle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95728" y="777240"/>
            <a:ext cx="3246120" cy="438912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777240"/>
            <a:ext cx="3099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réalisée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15000" y="777240"/>
            <a:ext cx="3108960" cy="438912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88152" y="777240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métier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205740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261872"/>
            <a:ext cx="64008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33502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Slider  0 → 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95728" y="1261872"/>
            <a:ext cx="3246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33502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le seuil de détection en temps réel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15000" y="1261872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335024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Durcir (fraudes rares) ou assouplir (flux élevé)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828800"/>
            <a:ext cx="205740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828800"/>
            <a:ext cx="64008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19019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95728" y="1828800"/>
            <a:ext cx="3246120" cy="512064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190195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l'analyse complète sur les 50 TX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1828800"/>
            <a:ext cx="3108960" cy="512064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901952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global du portefeuille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395728"/>
            <a:ext cx="2057400" cy="512064"/>
          </a:xfrm>
          <a:prstGeom prst="rect">
            <a:avLst/>
          </a:prstGeom>
          <a:solidFill>
            <a:srgbClr val="FFF7ED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395728"/>
            <a:ext cx="64008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468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95728" y="2395728"/>
            <a:ext cx="3246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24688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: affiche uniquement les TX suspectes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15000" y="2395728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46888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— focus immédiat sur l'urgence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962656"/>
            <a:ext cx="2057400" cy="512064"/>
          </a:xfrm>
          <a:prstGeom prst="rect">
            <a:avLst/>
          </a:prstGeom>
          <a:solidFill>
            <a:srgbClr val="FEF2F2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962656"/>
            <a:ext cx="64008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30358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395728" y="2962656"/>
            <a:ext cx="3246120" cy="512064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87168" y="303580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 tous les résultats en tableur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15000" y="2962656"/>
            <a:ext cx="3108960" cy="512064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3035808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compliance / service juridique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529584"/>
            <a:ext cx="2057400" cy="512064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529584"/>
            <a:ext cx="64008" cy="5120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360273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395728" y="3529584"/>
            <a:ext cx="3246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87168" y="3602736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les données — simule nouvelles TX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15000" y="3529584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3602736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continu en environnement production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096512"/>
            <a:ext cx="2057400" cy="512064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096512"/>
            <a:ext cx="64008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" y="416966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 Alerts / Critical / Safe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395728" y="4096512"/>
            <a:ext cx="3246120" cy="512064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87168" y="416966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la liste des transactions par niveau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15000" y="4096512"/>
            <a:ext cx="3108960" cy="512064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4169664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ciblée — aller droit au plus grave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Analysis Center — Priorisation Automatique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menaces les plus graves sont classées automatiquement par score décroissant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859536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1188720"/>
            <a:ext cx="59436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18872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tx014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42646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invalide (nul ou négatif)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1097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évidente — transaction bloquée automatiquement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8595360" cy="77724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2024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84832"/>
            <a:ext cx="59436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084832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19751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tx008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32257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7× la moyenne client | Fréquence excessive : 6 TX en 1 minute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19933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coordonnée — compte compromis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16352"/>
            <a:ext cx="859536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16352"/>
            <a:ext cx="73152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980944"/>
            <a:ext cx="59436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980944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287121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tx005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21868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hors plage IQR | Paiement sans carte | Déplacement géographique impossible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28895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multi-signaux — 3 indicateurs simultanés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712464"/>
            <a:ext cx="859536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12464"/>
            <a:ext cx="73152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3877056"/>
            <a:ext cx="59436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387705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37673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tx010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élevé (z-score fort) | Fréquence excessive | Commerçant nouveau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08960" y="37856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compromis probable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636008"/>
            <a:ext cx="8595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654296"/>
            <a:ext cx="8449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alerte affiche la RAISON EXACTE — L'analyste identifie immédiatement quoi investiguer, sans perte de temps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Technique — 11/11 Tests Validés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606040" cy="2606040"/>
          </a:xfrm>
          <a:prstGeom prst="ellipse">
            <a:avLst/>
          </a:prstGeom>
          <a:solidFill>
            <a:srgbClr val="F0FDF4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parfait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82296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parfait sur les tests automatisés du jury INTELO2026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32588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74136" y="12984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test_liste_vide — Liste vide retourne []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183794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74136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test_transaction_normale — Score &lt; 0.5 pour TX légitime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63240" y="235000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74136" y="23225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test_montant_negatif — Montant négatif → score 1.0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63240" y="286207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74136" y="28346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test_champ_manquant — Champ absent → score 1.0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3240" y="337413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74136" y="33467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test_zscore_eleve — Z-score élevé correctement détecté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63240" y="388620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74136" y="38587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test_geographie_impossible — Vol FR→JP en 1h détecté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132588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45936" y="12984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test_frequence_burst — 5+ TX en 60 s détecté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183794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45936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test_doublon — Transaction dupliquée signalée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235000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45936" y="23225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test_devise_inhabituelle — Devise anormale signalée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286207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45936" y="28346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test_montant_tres_eleve_suspect — 100× le max historique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337413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45936" y="33467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test_faux_positif — TX légèrement élevée NON flaggée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636008"/>
            <a:ext cx="859536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4654296"/>
            <a:ext cx="8449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3.14 — Zéro numpy / pandas — Zéro crash — Zéro dépendance externe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— Flux de Traitement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6035040" cy="66751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73152" cy="6675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2296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CSV / API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112471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financières brutes en entrée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444752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72768"/>
            <a:ext cx="6035040" cy="667512"/>
          </a:xfrm>
          <a:prstGeom prst="rect">
            <a:avLst/>
          </a:prstGeom>
          <a:solidFill>
            <a:srgbClr val="E2E8F0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72768"/>
            <a:ext cx="73152" cy="66751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61848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load_transactions() + _clean_row()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192024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validation et normalisation de chaque champ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2240280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68296"/>
            <a:ext cx="6035040" cy="667512"/>
          </a:xfrm>
          <a:prstGeom prst="rect">
            <a:avLst/>
          </a:prstGeom>
          <a:solidFill>
            <a:srgbClr val="E2E8F0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68296"/>
            <a:ext cx="73152" cy="66751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41401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detect_fraud() — Moteur 7 signaux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271576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_prior_history() | IQR | Z-score | geo | freq | dup | ratio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3035808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63824"/>
            <a:ext cx="6035040" cy="66751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63824"/>
            <a:ext cx="73152" cy="6675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0954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REST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" y="351129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/api/data     /api/transactions     /api/export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3831336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959352"/>
            <a:ext cx="6035040" cy="667512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959352"/>
            <a:ext cx="73152" cy="6675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00507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Chart.js — Temps réel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" y="4306824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graphiques interactifs | Filtres | Export | Auto-refresh 30 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0" y="777240"/>
            <a:ext cx="2286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777240"/>
            <a:ext cx="2286000" cy="40233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7772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38544" y="1243584"/>
            <a:ext cx="2176272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243584"/>
            <a:ext cx="3291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1307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38544" y="1709928"/>
            <a:ext cx="2176272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1709928"/>
            <a:ext cx="3291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17739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numpy / 0 pandas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38544" y="2176272"/>
            <a:ext cx="2176272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2176272"/>
            <a:ext cx="3291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95160" y="2240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stdlib Python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38544" y="2642616"/>
            <a:ext cx="2176272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2642616"/>
            <a:ext cx="3291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27066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38544" y="3108960"/>
            <a:ext cx="2176272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3108960"/>
            <a:ext cx="3291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95160" y="31729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4.x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38544" y="3575304"/>
            <a:ext cx="2176272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3575304"/>
            <a:ext cx="3291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95160" y="36393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 temps réponse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38544" y="4041648"/>
            <a:ext cx="2176272" cy="39319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4041648"/>
            <a:ext cx="32918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95160" y="41056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CI tests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ShieldAI ULTRA mérite la 1ère Place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331720" cy="438912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7724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777240"/>
            <a:ext cx="278892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777240"/>
            <a:ext cx="2642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basique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777240"/>
            <a:ext cx="32918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0992" y="777240"/>
            <a:ext cx="3145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2331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131673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1261872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9776" y="131673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fixes statiques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261872"/>
            <a:ext cx="329184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0136" y="1316736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signaux adaptatifs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682496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173736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CI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97480" y="1682496"/>
            <a:ext cx="27889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9776" y="173736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Partielle ou inconnue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1682496"/>
            <a:ext cx="3291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0136" y="1737360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— 100% validé 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103120"/>
            <a:ext cx="2331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" y="215798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clients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97480" y="2103120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2157984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2103120"/>
            <a:ext cx="329184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0136" y="2157984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historique dynamique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523744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257860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97480" y="2523744"/>
            <a:ext cx="27889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79776" y="2578608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2523744"/>
            <a:ext cx="3291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0136" y="2578608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calcul temps réel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944368"/>
            <a:ext cx="2331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299923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97480" y="2944368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79776" y="299923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2944368"/>
            <a:ext cx="329184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0136" y="2999232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4 graphiques interactifs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364992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" y="341985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rapport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97480" y="3364992"/>
            <a:ext cx="27889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79776" y="341985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77840" y="3364992"/>
            <a:ext cx="3291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0136" y="3419856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CSV complet en 1 clic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785616"/>
            <a:ext cx="2331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" y="384048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97480" y="3785616"/>
            <a:ext cx="2788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79776" y="384048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(numpy / pandas)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77840" y="3785616"/>
            <a:ext cx="329184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0136" y="3840480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— zéro erreur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206240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" y="426110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97480" y="4206240"/>
            <a:ext cx="27889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79776" y="4261104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Nombreux, trop d'alertes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77840" y="4206240"/>
            <a:ext cx="3291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0136" y="4261104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Calibrés : IQR + seuils adaptatifs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4636008"/>
            <a:ext cx="8595360" cy="3200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4654296"/>
            <a:ext cx="8449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officielle : https://github.com/INTELO2026/fraud-challenge/pull/42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8554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229600" y="48554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0" y="13716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926080" y="2304288"/>
            <a:ext cx="3291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95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la production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81635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robuste, précis et visuellement impressionnant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protéger les institutions financières en temps réel.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93008"/>
            <a:ext cx="246888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400507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tests CI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signal manqué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3493008"/>
            <a:ext cx="246888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400507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compatible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dépendance externe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3493008"/>
            <a:ext cx="246888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0760" y="400507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professionnel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en 5 secondes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ShieldAI ULTRA — Hackathon IT 2026</dc:title>
  <dc:subject>PptxGenJS Presentation</dc:subject>
  <dc:creator>LUC-cmd</dc:creator>
  <cp:lastModifiedBy>LUC-cmd</cp:lastModifiedBy>
  <cp:revision>1</cp:revision>
  <dcterms:created xsi:type="dcterms:W3CDTF">2026-06-06T12:42:41Z</dcterms:created>
  <dcterms:modified xsi:type="dcterms:W3CDTF">2026-06-06T12:42:41Z</dcterms:modified>
</cp:coreProperties>
</file>