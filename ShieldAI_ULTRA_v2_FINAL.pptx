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Courbe de Distribution des Risques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Nb transactions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0-0.2</c:v>
                  </c:pt>
                  <c:pt idx="1">
                    <c:v>0.2-0.4</c:v>
                  </c:pt>
                  <c:pt idx="2">
                    <c:v>0.4-0.6</c:v>
                  </c:pt>
                  <c:pt idx="3">
                    <c:v>0.6-0.8</c:v>
                  </c:pt>
                  <c:pt idx="4">
                    <c:v>0.8-1.0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Carte Radar — Risque par Pays</a:t>
            </a:r>
          </a:p>
        </c:rich>
      </c:tx>
      <c:layout/>
      <c:overlay val="0"/>
    </c:title>
    <c:autoTitleDeleted val="0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Risque %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CN</c:v>
                  </c:pt>
                  <c:pt idx="1">
                    <c:v>JP</c:v>
                  </c:pt>
                  <c:pt idx="2">
                    <c:v>US</c:v>
                  </c:pt>
                  <c:pt idx="3">
                    <c:v>BR</c:v>
                  </c:pt>
                  <c:pt idx="4">
                    <c:v>AE</c:v>
                  </c:pt>
                  <c:pt idx="5">
                    <c:v>TG</c:v>
                  </c:pt>
                  <c:pt idx="6">
                    <c:v>ES</c:v>
                  </c:pt>
                  <c:pt idx="7">
                    <c:v>FR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65</c:v>
                </c:pt>
                <c:pt idx="2">
                  <c:v>30</c:v>
                </c:pt>
                <c:pt idx="3">
                  <c:v>45</c:v>
                </c:pt>
                <c:pt idx="4">
                  <c:v>55</c:v>
                </c:pt>
                <c:pt idx="5">
                  <c:v>75</c:v>
                </c:pt>
                <c:pt idx="6">
                  <c:v>20</c:v>
                </c:pt>
                <c:pt idx="7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8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Histogramme des Scores de Fraude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TX count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0-0.2</c:v>
                  </c:pt>
                  <c:pt idx="1">
                    <c:v>0.2-0.4</c:v>
                  </c:pt>
                  <c:pt idx="2">
                    <c:v>0.4-0.6</c:v>
                  </c:pt>
                  <c:pt idx="3">
                    <c:v>0.6-0.8</c:v>
                  </c:pt>
                  <c:pt idx="4">
                    <c:v>0.8-1.0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FF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Répartition Sûr / Alerte / Critique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Repartition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Sûres</c:v>
                </c:pt>
                <c:pt idx="1">
                  <c:v>A surveiller</c:v>
                </c:pt>
                <c:pt idx="2">
                  <c:v>Critiques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40</c:v>
                </c:pt>
                <c:pt idx="1">
                  <c:v>6</c:v>
                </c:pt>
                <c:pt idx="2">
                  <c:v>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201168"/>
            <a:ext cx="2560320" cy="2560320"/>
          </a:xfrm>
          <a:prstGeom prst="ellipse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337560" y="256032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🛡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2926080" y="3264408"/>
            <a:ext cx="32918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3649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Détection de Fraude Financière en Temps Réel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640080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3858768"/>
            <a:ext cx="6217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gardien automatique qui surveille chaque paiement bancaire et lève l'alarme si quelque chose est anormal — 24h/24, 7j/7.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IT 2026 — INTELO2026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94760" y="4773168"/>
            <a:ext cx="155448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47731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LUC-cmd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Défi — Pourquoi la fraude est un problème critique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91440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49808"/>
            <a:ext cx="82296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transaction sur 5</a:t>
            </a:r>
            <a:pPr algn="ctr"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est frauduleuse dans nos données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760720" y="1691640"/>
            <a:ext cx="306324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15584" y="1728216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 fraudes sur 50 TX analysées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4160520" cy="1170432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28800"/>
            <a:ext cx="64008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51560" y="190195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4 800 milliards 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2311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perdus à la fraude financière chaque année dans le monde entier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2578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= le PIB de l'Allemagne perdu à cause des fraudeurs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1828800"/>
            <a:ext cx="4160520" cy="1170432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828800"/>
            <a:ext cx="64008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94960" y="190195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30%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22311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fraudes détectées par les anciens systèmes à règles fixes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94960" y="2578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= 70% des fraudes passent entre les mailles du filet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127248"/>
            <a:ext cx="4160520" cy="1170432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127248"/>
            <a:ext cx="64008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3101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051560" y="320040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35295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bloquent des clients honnêtes qui font des achats légitimes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38770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= votre carte bloquée alors que c'est bien vous qui payez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3127248"/>
            <a:ext cx="4160520" cy="1170432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3127248"/>
            <a:ext cx="64008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33101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394960" y="320040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Fraudeurs adaptatifs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35295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changent de technique chaque jour pour contourner les règles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38770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= les règles d'hier ne protègent pas contre les fraudes d'aujourd'hui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443984"/>
            <a:ext cx="8595360" cy="347472"/>
          </a:xfrm>
          <a:prstGeom prst="rect">
            <a:avLst/>
          </a:prstGeom>
          <a:solidFill>
            <a:srgbClr val="FEFCE8"/>
          </a:solidFill>
          <a:ln w="15240">
            <a:solidFill>
              <a:srgbClr val="CA8A0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453128"/>
            <a:ext cx="8430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 clair 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fraude bancaire n'est pas un problème rare — c'est une menace quotidienne et massive. ShieldAI ULTRA est la réponse.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— 3 Couches qui Travaillent Ensemble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Imaginez 3 experts qui collaborent en temps réel : un analyste, une mémoire et un écran de contrôle.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3703320"/>
          </a:xfrm>
          <a:prstGeom prst="rect">
            <a:avLst/>
          </a:prstGeom>
          <a:solidFill>
            <a:srgbClr val="EFF6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Moteur Python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cerveau — il analyse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682496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6276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détecteurs indépendants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 questions posées pour chaque paiement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35000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2459736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4048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dépendance externe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6974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fonctionne seul, sans logiciel tiers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12724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3236976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1821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Python 3.14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4747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utilise la toute dernière version du langage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90448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4014216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9593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 tests CI validés 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425196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approuvé à 100% par les tests du jury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54680" y="1005840"/>
            <a:ext cx="2743200" cy="3703320"/>
          </a:xfrm>
          <a:prstGeom prst="rect">
            <a:avLst/>
          </a:prstGeom>
          <a:solidFill>
            <a:srgbClr val="F0FDF4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54680" y="1005840"/>
            <a:ext cx="27432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Intelligence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46120" y="1261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mémoire — il apprend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157276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19272" y="1682496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16276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0.0 → 1.0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66160" y="192024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 = innocent, 1 = fraudeur certain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46120" y="235000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19272" y="2459736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0" y="24048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clients adaptatifs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566160" y="26974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chaque client a son propre profil de dépenses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46120" y="312724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19272" y="3236976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31821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antérieur seul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566160" y="34747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compare avec AVANT, pas avec l'avenir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46120" y="390448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19272" y="4014216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160" y="39593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IQR + Z-score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566160" y="425196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deux méthodes statistiques pour plus de fiabilité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35040" y="1005840"/>
            <a:ext cx="2743200" cy="3703320"/>
          </a:xfrm>
          <a:prstGeom prst="rect">
            <a:avLst/>
          </a:prstGeom>
          <a:solidFill>
            <a:srgbClr val="FFF7ED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0" y="1005840"/>
            <a:ext cx="27432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126480" y="1261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yeux — il affiche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26480" y="157276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99632" y="168249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16276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graphiques interactifs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46520" y="192024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vous voyez tout d'un seul coup d'œil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26480" y="235000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99632" y="245973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46520" y="24048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Actualisation toutes 30 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46520" y="26974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les données se rafraîchissent seules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26480" y="312724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99632" y="323697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46520" y="31821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en 1 clic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446520" y="34747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téléchargez le rapport pour votre comptable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26480" y="390448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99632" y="401421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46520" y="39593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dynamiques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46520" y="425196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affichez uniquement ce qui vous intéresse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4443984"/>
            <a:ext cx="8595360" cy="347472"/>
          </a:xfrm>
          <a:prstGeom prst="rect">
            <a:avLst/>
          </a:prstGeom>
          <a:solidFill>
            <a:srgbClr val="FEFCE8"/>
          </a:solidFill>
          <a:ln w="15240">
            <a:solidFill>
              <a:srgbClr val="CA8A0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" y="4453128"/>
            <a:ext cx="8430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 clair 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= analyse. Intelligence = apprend du passé. Dashboard = affiche les résultats. Les 3 travaillent ensemble en même temps.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Signaux de Détection — Ce Que le Système Surveille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paiement reçoit 7 vérifications automatiques. Si l'une sonne l'alarme, le score monte.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25196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24128"/>
            <a:ext cx="54864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88136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88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106070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Champs manquants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30759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 / user_id / amount absent → Score 1.0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41248" y="1536192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Comme un chèque sans nom, sans date et sans montant — invalide d'office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901952"/>
            <a:ext cx="425196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901952"/>
            <a:ext cx="54864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96596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193852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Montant invalide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185416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nulle ou négative → Fraude certaine, blocage immédiat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41248" y="2414016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Personne ne paye -50€. Si c'est le cas, quelqu'un a trafiqué les données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779776"/>
            <a:ext cx="425196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779776"/>
            <a:ext cx="54864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843784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28163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Anomalie statistique IQR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063240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Dépassement de la borne supérieure IQR (4+ transactions historiques)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41248" y="3291840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Vous dépensez 50€/jour depuis 1 mois. Soudain 9 800€ → alarme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657600"/>
            <a:ext cx="425196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657600"/>
            <a:ext cx="54864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72160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" y="369417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Z-Score anormal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" y="394106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&gt; 3.5 (+0.35) ou Z &gt; 2.5 avec 3+ transactions dans l'historique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41248" y="4169664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Calcul statistique : ce montant est-il 'normal' pour CE client précis ?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1024128"/>
            <a:ext cx="425196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1024128"/>
            <a:ext cx="54864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18888" y="108813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1088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76088" y="106070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Géographie impossible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76088" y="130759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 &gt; 900 km/h entre deux transactions consécutives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276088" y="1536192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Impossible d'acheter à Paris à 10h01 et à Tokyo à 10h02 — c'est un vol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1901952"/>
            <a:ext cx="425196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1901952"/>
            <a:ext cx="54864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18888" y="196596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76088" y="193852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Fréquence suspecte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76088" y="2185416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transactions du même client en moins de 60 secondes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276088" y="2414016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 humain normal ne fait pas 6 achats en 1 minute — c'est un robot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09160" y="2779776"/>
            <a:ext cx="425196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09160" y="2779776"/>
            <a:ext cx="54864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18888" y="2843784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18888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76088" y="28163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Transaction dupliquée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76088" y="3063240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ID ou même signature : user + montant + marchand + horodatage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276088" y="3291840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Comme être débité deux fois pour le même café — le système le détecte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4443984"/>
            <a:ext cx="8595360" cy="347472"/>
          </a:xfrm>
          <a:prstGeom prst="rect">
            <a:avLst/>
          </a:prstGeom>
          <a:solidFill>
            <a:srgbClr val="FEFCE8"/>
          </a:solidFill>
          <a:ln w="15240">
            <a:solidFill>
              <a:srgbClr val="CA8A0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4453128"/>
            <a:ext cx="8430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 clair 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vérification correspond à un comportement humain normal. Si quelque chose sort de la normale, le score augmente automatiquement.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Dashboard — L'Écran de Contrôle Tout-en-Un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dont l'analyste a besoin est visible sur UNE SEULE page. Aucune formation requise pour comprendre les résultats.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41148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ShieldAI ULTRA     SYSTEM STATUS: ACTIVE     12:16:28     THREAT LEVEL: CRITICAL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0" y="749808"/>
            <a:ext cx="21031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41264" y="786384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L'heure se met à jour en direct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0" y="1435608"/>
            <a:ext cx="333756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1264" y="1472184"/>
            <a:ext cx="3227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menace global calculé auto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417320"/>
            <a:ext cx="1508760" cy="2971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463040"/>
            <a:ext cx="13716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DE CONTRÔLE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Sensibilité : 0.50
</a:t>
            </a:r>
            <a:endParaRPr lang="en-US" sz="6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Complet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seulement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CSV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Rafraîchir
</a:t>
            </a:r>
            <a:endParaRPr lang="en-US" sz="6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endParaRPr lang="en-US" sz="650" dirty="0"/>
          </a:p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LIVE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TX    50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    10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Critiques    4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moy 0.20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56032" y="4407408"/>
            <a:ext cx="338328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4443984"/>
            <a:ext cx="3273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boutons de commande — voir slide 7 pour le détail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920240" y="1417320"/>
            <a:ext cx="1463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1417320"/>
            <a:ext cx="1463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75104" y="1472184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975104" y="164592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975104" y="202996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965960" y="2359152"/>
            <a:ext cx="1371600" cy="411480"/>
          </a:xfrm>
          <a:prstGeom prst="rect">
            <a:avLst/>
          </a:prstGeom>
          <a:solidFill>
            <a:srgbClr val="FEFCE8"/>
          </a:solidFill>
          <a:ln w="6350">
            <a:solidFill>
              <a:srgbClr val="CA8A0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93392" y="2368296"/>
            <a:ext cx="13167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total 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analysés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502152" y="1417320"/>
            <a:ext cx="1463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02152" y="1417320"/>
            <a:ext cx="1463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57016" y="1472184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557016" y="164592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557016" y="202996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détectés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547872" y="2359152"/>
            <a:ext cx="1371600" cy="411480"/>
          </a:xfrm>
          <a:prstGeom prst="rect">
            <a:avLst/>
          </a:prstGeom>
          <a:solidFill>
            <a:srgbClr val="FEFCE8"/>
          </a:solidFill>
          <a:ln w="6350">
            <a:solidFill>
              <a:srgbClr val="CA8A0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75304" y="2368296"/>
            <a:ext cx="13167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levées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le système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084064" y="1417320"/>
            <a:ext cx="1463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84064" y="1417320"/>
            <a:ext cx="14630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1472184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CRITIQUES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138928" y="164592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138928" y="202996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Prioritaires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129784" y="2359152"/>
            <a:ext cx="1371600" cy="411480"/>
          </a:xfrm>
          <a:prstGeom prst="rect">
            <a:avLst/>
          </a:prstGeom>
          <a:solidFill>
            <a:srgbClr val="FEFCE8"/>
          </a:solidFill>
          <a:ln w="6350">
            <a:solidFill>
              <a:srgbClr val="CA8A0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57216" y="2368296"/>
            <a:ext cx="13167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traiter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urgence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665976" y="1417320"/>
            <a:ext cx="1463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65976" y="1417320"/>
            <a:ext cx="14630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1472184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MOY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720840" y="164592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0.199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720840" y="202996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global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711696" y="2359152"/>
            <a:ext cx="1371600" cy="411480"/>
          </a:xfrm>
          <a:prstGeom prst="rect">
            <a:avLst/>
          </a:prstGeom>
          <a:solidFill>
            <a:srgbClr val="FEFCE8"/>
          </a:solidFill>
          <a:ln w="6350">
            <a:solidFill>
              <a:srgbClr val="CA8A0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39128" y="2368296"/>
            <a:ext cx="13167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faible =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portefeuille sain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920240" y="2834640"/>
            <a:ext cx="33375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20240" y="2834640"/>
            <a:ext cx="333756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11680" y="28346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1 — Distribution des risques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057400" y="32186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 où se situent les transactions (faible, moyen, élevé risque)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194560" y="3730752"/>
            <a:ext cx="2788920" cy="54864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94560" y="373075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Graphique interactif Chart.js ]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440680" y="2834640"/>
            <a:ext cx="33375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40680" y="2834640"/>
            <a:ext cx="333756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32120" y="28346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2 — Carte des pays à risque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577840" y="32186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 quels pays concentrent le plus de fraudes détectées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715000" y="3730752"/>
            <a:ext cx="2788920" cy="54864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15000" y="373075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Graphique interactif Chart.js ]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458200" y="1417320"/>
            <a:ext cx="685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76488" y="1463040"/>
            <a:ext cx="64922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
AUTO
</a:t>
            </a:r>
            <a:endParaRPr lang="en-US" sz="6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
10 fraudes
</a:t>
            </a:r>
            <a:endParaRPr lang="en-US" sz="6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
4 menaces
</a:t>
            </a:r>
            <a:endParaRPr lang="en-US" sz="6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</a:t>
            </a:r>
            <a:endParaRPr lang="en-US" sz="6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faible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5486400" y="4370832"/>
            <a:ext cx="356616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41264" y="4407408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rédige lui-même ses conclusions en texte clair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Graphiques — Comment les Lire en 10 Secondes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749808"/>
          <a:ext cx="41605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2743200"/>
            <a:ext cx="416052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2752344"/>
            <a:ext cx="401421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Comment lire 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L'axe horizontal = niveau de risque (0 = sûr, 1 = fraude). L'axe vertical = nombre de transactions. </a:t>
            </a:r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grande bosse à gauche (31 TX) = la majorité sont normales. Les 3 TX à droite = fraudes critiques.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663440" y="749808"/>
          <a:ext cx="41605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663440" y="2743200"/>
            <a:ext cx="4160520" cy="685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36592" y="2752344"/>
            <a:ext cx="401421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Comment lire 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pointe = un pays.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la pointe est longue vers un pays, plus ce pays concentre des fraudes. </a:t>
            </a:r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(Chine) à 100% = toutes les TX de Chine sont suspectes dans nos données.</a:t>
            </a:r>
            <a:endParaRPr lang="en-US" sz="900" dirty="0"/>
          </a:p>
        </p:txBody>
      </p:sp>
      <p:graphicFrame>
        <p:nvGraphicFramePr>
          <p:cNvPr id="11" name="Chart 2" descr=""/>
          <p:cNvGraphicFramePr/>
          <p:nvPr/>
        </p:nvGraphicFramePr>
        <p:xfrm>
          <a:off x="274320" y="3520440"/>
          <a:ext cx="41605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Shape 7"/>
          <p:cNvSpPr/>
          <p:nvPr/>
        </p:nvSpPr>
        <p:spPr>
          <a:xfrm>
            <a:off x="320040" y="5193792"/>
            <a:ext cx="137160" cy="137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93776" y="5166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= normal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1673352" y="5193792"/>
            <a:ext cx="13716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847088" y="5166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= surveiller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3026664" y="5193792"/>
            <a:ext cx="137160" cy="137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200400" y="5166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= urgent</a:t>
            </a:r>
            <a:endParaRPr lang="en-US" sz="800" dirty="0"/>
          </a:p>
        </p:txBody>
      </p:sp>
      <p:graphicFrame>
        <p:nvGraphicFramePr>
          <p:cNvPr id="18" name="Chart 3" descr=""/>
          <p:cNvGraphicFramePr/>
          <p:nvPr/>
        </p:nvGraphicFramePr>
        <p:xfrm>
          <a:off x="4663440" y="3520440"/>
          <a:ext cx="41605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Shape 13"/>
          <p:cNvSpPr/>
          <p:nvPr/>
        </p:nvSpPr>
        <p:spPr>
          <a:xfrm>
            <a:off x="274320" y="4443984"/>
            <a:ext cx="8595360" cy="347472"/>
          </a:xfrm>
          <a:prstGeom prst="rect">
            <a:avLst/>
          </a:prstGeom>
          <a:solidFill>
            <a:srgbClr val="FEFCE8"/>
          </a:solidFill>
          <a:ln w="15240">
            <a:solidFill>
              <a:srgbClr val="CA8A04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47472" y="4453128"/>
            <a:ext cx="8430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 clair 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4 graphiques se lisent comme un tableau de bord de voiture : vert = tout va bien, orange = attention, rouge = problème urgent.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23" name="Text 17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Boutons — Un Cockpit Simple et Efficace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31520"/>
            <a:ext cx="8449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Imaginez le tableau de bord d'un avion de ligne : chaque bouton a une fonction précise. Voici à quoi sert chaque contrôle de ShieldAI ULTRA.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993392" cy="411480"/>
          </a:xfrm>
          <a:prstGeom prst="rect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09728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/ Contrôle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2542032" cy="411480"/>
          </a:xfrm>
          <a:prstGeom prst="rect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86584" y="109728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fait exactement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097280"/>
            <a:ext cx="2450592" cy="411480"/>
          </a:xfrm>
          <a:prstGeom prst="rect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92624" y="109728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l'utiliser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52360" y="1097280"/>
            <a:ext cx="1417320" cy="411480"/>
          </a:xfrm>
          <a:prstGeom prst="rect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07224" y="109728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l'utilise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554480"/>
            <a:ext cx="1993392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554480"/>
            <a:ext cx="54864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6093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🎚️ Sensitivity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(curseur 0→1)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31720" y="1554480"/>
            <a:ext cx="25420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04872" y="1609344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la sensibilité du détecteur. Vers 1 = très strict. Vers 0 = plus souple.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37760" y="1554480"/>
            <a:ext cx="245059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60934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on veut être plus ou moins exigeant selon le contexte de risque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52360" y="1554480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25512" y="1609344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risque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048256"/>
            <a:ext cx="1993392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048256"/>
            <a:ext cx="54864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103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Full Scan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31720" y="2048256"/>
            <a:ext cx="2542032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04872" y="210312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l'analyse complète sur les 50 transactions avec les réglages actuels.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2048256"/>
            <a:ext cx="2450592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210312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voir la photo complète du portefeuille à un instant 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52360" y="2048256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25512" y="2103120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Analyste fraude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542032"/>
            <a:ext cx="1993392" cy="457200"/>
          </a:xfrm>
          <a:prstGeom prst="rect">
            <a:avLst/>
          </a:prstGeom>
          <a:solidFill>
            <a:srgbClr val="FFF7ED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542032"/>
            <a:ext cx="54864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25968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Alerts Only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331720" y="2542032"/>
            <a:ext cx="25420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04872" y="2596896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les transactions normales. N'affiche que les suspectes.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37760" y="2542032"/>
            <a:ext cx="245059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259689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on veut aller droit au problème sans regarder le reste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52360" y="2542032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25512" y="2596896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Enquêteur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3035808"/>
            <a:ext cx="1993392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3035808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Export CSV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331720" y="3035808"/>
            <a:ext cx="2542032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04872" y="3090672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 un fichier Excel avec tous les résultats et les raisons.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937760" y="3035808"/>
            <a:ext cx="2450592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10912" y="309067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envoyer le rapport au service juridique ou à la compliance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52360" y="303580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25512" y="3090672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Juriste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3529584"/>
            <a:ext cx="1993392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3529584"/>
            <a:ext cx="54864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" y="35844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Refresh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331720" y="3529584"/>
            <a:ext cx="25420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04872" y="35844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les données. Simule l'arrivée de nouvelles transactions.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937760" y="3529584"/>
            <a:ext cx="245059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10912" y="358444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garder les données à jour en temps réel (production)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452360" y="3529584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25512" y="3584448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4023360"/>
            <a:ext cx="1993392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4320" y="4023360"/>
            <a:ext cx="54864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4048" y="4078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All/Alerts/Critical/Safe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31720" y="4023360"/>
            <a:ext cx="2542032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404872" y="4078224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la liste des transactions par niveau de danger.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937760" y="4023360"/>
            <a:ext cx="2450592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10912" y="407822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naviguer rapidement entre les différents niveaux d'alerte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452360" y="4023360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25512" y="4078224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monde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4320" y="4443984"/>
            <a:ext cx="8595360" cy="347472"/>
          </a:xfrm>
          <a:prstGeom prst="rect">
            <a:avLst/>
          </a:prstGeom>
          <a:solidFill>
            <a:srgbClr val="FEFCE8"/>
          </a:solidFill>
          <a:ln w="15240">
            <a:solidFill>
              <a:srgbClr val="CA8A0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" y="4453128"/>
            <a:ext cx="8430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 clair 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boutons ne nécessitent aucune compétence technique. Un clic suffit pour filtrer, analyser ou exporter — tout est pensé pour être intuitif.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d'Analyse des Menaces — Lire une Alerte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22376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Comment lire 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= une transaction suspecte. Le </a:t>
            </a:r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= probabilité de fraude.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transactions sont triées du plus dangereux (haut) au moins dangereux (bas). La raison exacte est toujours affichée.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859536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70432"/>
            <a:ext cx="73152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1316736"/>
            <a:ext cx="59436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131673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12070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tx014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120700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Montant invalide (nul ou négatif) — aucun achat légitime ne vaut 0€ ou moins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148132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Un fraudeur a tenté de soumettre un montant négatif pour annuler d'autres transactions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69280" y="1463040"/>
            <a:ext cx="2468880" cy="237744"/>
          </a:xfrm>
          <a:prstGeom prst="rect">
            <a:avLst/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47218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Bloquer immédiatement — contacter le client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1975104"/>
            <a:ext cx="8595360" cy="73152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975104"/>
            <a:ext cx="73152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2121408"/>
            <a:ext cx="59436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121408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tx008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0240" y="201168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Montant 7× la moyenne + 6 transactions en 1 minute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228600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Un robot effectue des achats à toute vitesse avec un montant anormalement élevé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69280" y="2267712"/>
            <a:ext cx="2468880" cy="237744"/>
          </a:xfrm>
          <a:prstGeom prst="rect">
            <a:avLst/>
          </a:prstGeom>
          <a:solidFill>
            <a:srgbClr val="FFF0F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27685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Enquête urgente — gel temporaire du compte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779776"/>
            <a:ext cx="8595360" cy="73152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779776"/>
            <a:ext cx="73152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2926080"/>
            <a:ext cx="59436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292608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28163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tx005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920240" y="281635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Montant hors IQR + sans carte physique + déplacement géo impossible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309067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3 alarmes simultanées : montant suspect, pas de carte, et géographie incohérente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669280" y="3072384"/>
            <a:ext cx="2468880" cy="237744"/>
          </a:xfrm>
          <a:prstGeom prst="rect">
            <a:avLst/>
          </a:prstGeom>
          <a:solidFill>
            <a:srgbClr val="FFF7ED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308152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Vérification identité + blocage en attente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584448"/>
            <a:ext cx="8595360" cy="7315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584448"/>
            <a:ext cx="73152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3730752"/>
            <a:ext cx="59436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373075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7200" y="36210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tx010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920240" y="362102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Montant élevé + fréquence excessive + commerçant inconnu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389534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Le compte semble compromis — comportement inhabituel sur plusieurs dimensions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0" y="3877056"/>
            <a:ext cx="2468880" cy="237744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38862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Surveillance renforcée + notification client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4443984"/>
            <a:ext cx="8595360" cy="347472"/>
          </a:xfrm>
          <a:prstGeom prst="rect">
            <a:avLst/>
          </a:prstGeom>
          <a:solidFill>
            <a:srgbClr val="FEFCE8"/>
          </a:solidFill>
          <a:ln w="15240">
            <a:solidFill>
              <a:srgbClr val="CA8A0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4453128"/>
            <a:ext cx="8430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 clair 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L'analyste n'a pas à deviner : le système lui dit QUOI s'est passé, POURQUOI c'est suspect, et QUOI faire. Tout est prêt pour agir.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11/11 Tests Validés par le Jury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859536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22376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Qu'est-ce qu'un test CI ?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= 'Continuous Integration'. Ce sont des tests automatiques que le jury INTELO2026 fait tourner sur notre code. </a:t>
            </a:r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11/11 = notre système répond PARFAITEMENT à TOUTES les exigences du concours.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2606040" cy="2606040"/>
          </a:xfrm>
          <a:prstGeom prst="ellipse">
            <a:avLst/>
          </a:prstGeom>
          <a:solidFill>
            <a:srgbClr val="F0FDF4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25880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274320" y="28163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validé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312724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parfait INTELO2026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63240" y="1170432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18104" y="1261872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18104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1197864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test_liste_vide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29000" y="1389888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vide → retourne [] — ne plante pas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063240" y="1655064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18104" y="174650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18104" y="1746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168249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test_transaction_normale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29000" y="1874520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légitime → score &lt; 0.5 — pas de fausse alarme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063240" y="2139696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18104" y="2231136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18104" y="2231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2167128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test_montant_negatif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29000" y="2359152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négatif → score 1.0 — fraude certaine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063240" y="2624328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18104" y="271576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18104" y="2715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29000" y="2651760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test_champ_manquant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29000" y="2843784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absent → score 1.0 — données incomplètes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063240" y="3108960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18104" y="3200400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18104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29000" y="3136392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test_zscore_eleve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29000" y="332841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7× la moyenne → détecté comme suspect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063240" y="3593592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18104" y="3685032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18104" y="3685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29000" y="3621024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test_geographie_impossible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29000" y="3813048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Paris→Tokyo en 1h → déplacement impossible détecté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989320" y="1170432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44184" y="1261872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44184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55080" y="1197864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test_frequence_burst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55080" y="1389888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TX en 60s → attaque burst détectée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989320" y="1655064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44184" y="174650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44184" y="1746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55080" y="168249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test_doublon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55080" y="1874520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TX deux fois → doublon signalé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989320" y="2139696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44184" y="2231136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44184" y="2231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55080" y="2167128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test_devise_inhabituelle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355080" y="2359152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Devise inconnue pour ce client → signal levé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989320" y="2624328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44184" y="271576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44184" y="2715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355080" y="2651760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test_montant_tres_eleve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355080" y="2843784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 le maximum historique → fraude évidente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989320" y="3108960"/>
            <a:ext cx="278892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44184" y="3200400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44184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355080" y="3136392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test_faux_positif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355080" y="332841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un peu élevée mais normale → PAS d'alarme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" y="4453128"/>
            <a:ext cx="8449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numpy / pandas — Pure Python 3.14 — Fonctionne sans aucune bibliothèque externe installée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Comment le Système Fonctionne de A à Z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Imaginez une chaîne de montage : les données brutes entrent, et les résultats clairs sortent. Chaque étape enrichit l'information.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5943600" cy="621792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24128"/>
            <a:ext cx="64008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60704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Données CSV / API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5715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transactions bancaires brutes arrivent (fichier CSV ou flux API)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1645920"/>
            <a:ext cx="0" cy="10058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097280"/>
            <a:ext cx="2377440" cy="457200"/>
          </a:xfrm>
          <a:prstGeom prst="rect">
            <a:avLst/>
          </a:prstGeom>
          <a:solidFill>
            <a:srgbClr val="FEFCE8"/>
          </a:solidFill>
          <a:ln w="8890">
            <a:solidFill>
              <a:srgbClr val="CA8A0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10642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Comme un relevé de compte bancaire qui arrive au système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746504"/>
            <a:ext cx="5943600" cy="621792"/>
          </a:xfrm>
          <a:prstGeom prst="rect">
            <a:avLst/>
          </a:prstGeom>
          <a:solidFill>
            <a:srgbClr val="E2E8F0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746504"/>
            <a:ext cx="64008" cy="62179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83080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load_transactions() + _clean_row()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020824"/>
            <a:ext cx="5715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est lue, nettoyée et validée — dates, montants, devises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0" y="2368296"/>
            <a:ext cx="0" cy="10058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819656"/>
            <a:ext cx="2377440" cy="457200"/>
          </a:xfrm>
          <a:prstGeom prst="rect">
            <a:avLst/>
          </a:prstGeom>
          <a:solidFill>
            <a:srgbClr val="FEFCE8"/>
          </a:solidFill>
          <a:ln w="8890">
            <a:solidFill>
              <a:srgbClr val="CA8A0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8288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 système nettoie et vérifie que chaque donnée est au bon format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468880"/>
            <a:ext cx="5943600" cy="621792"/>
          </a:xfrm>
          <a:prstGeom prst="rect">
            <a:avLst/>
          </a:prstGeom>
          <a:solidFill>
            <a:srgbClr val="E2E8F0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468880"/>
            <a:ext cx="64008" cy="62179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505456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detect_fraud() — Les 7 signaux en 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0"/>
            <a:ext cx="5715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| Z-score | Ratio | Géographie | Fréquence | Doublon | Champs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0" y="3090672"/>
            <a:ext cx="0" cy="10058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2542032"/>
            <a:ext cx="2377440" cy="457200"/>
          </a:xfrm>
          <a:prstGeom prst="rect">
            <a:avLst/>
          </a:prstGeom>
          <a:solidFill>
            <a:srgbClr val="FEFCE8"/>
          </a:solidFill>
          <a:ln w="8890">
            <a:solidFill>
              <a:srgbClr val="CA8A0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55117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 cerveau analyse : ce paiement est-il normal pour CE client ?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3191256"/>
            <a:ext cx="5943600" cy="621792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191256"/>
            <a:ext cx="64008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27832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API Flask — /api/data  /api/transactions  /api/export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465576"/>
            <a:ext cx="5715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résultats sont envoyés au dashboard via des routes web standardisées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0" y="3813048"/>
            <a:ext cx="0" cy="10058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3264408"/>
            <a:ext cx="2377440" cy="457200"/>
          </a:xfrm>
          <a:prstGeom prst="rect">
            <a:avLst/>
          </a:prstGeom>
          <a:solidFill>
            <a:srgbClr val="FEFCE8"/>
          </a:solidFill>
          <a:ln w="8890">
            <a:solidFill>
              <a:srgbClr val="CA8A0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27355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 messager qui transporte les résultats vers l'écran d'affichage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3913632"/>
            <a:ext cx="5943600" cy="621792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913632"/>
            <a:ext cx="64008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950208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Dashboard Chart.js — Visualisation temps réel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187952"/>
            <a:ext cx="5715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graphiques interactifs, filtres, alertes, export — tout s'affiche instantanément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46520" y="3986784"/>
            <a:ext cx="2377440" cy="457200"/>
          </a:xfrm>
          <a:prstGeom prst="rect">
            <a:avLst/>
          </a:prstGeom>
          <a:solidFill>
            <a:srgbClr val="FEFCE8"/>
          </a:solidFill>
          <a:ln w="8890">
            <a:solidFill>
              <a:srgbClr val="CA8A0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99592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L'écran de contrôle lisible par tout le monde, même sans formation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4443984"/>
            <a:ext cx="8595360" cy="347472"/>
          </a:xfrm>
          <a:prstGeom prst="rect">
            <a:avLst/>
          </a:prstGeom>
          <a:solidFill>
            <a:srgbClr val="FEFCE8"/>
          </a:solidFill>
          <a:ln w="15240">
            <a:solidFill>
              <a:srgbClr val="CA8A0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453128"/>
            <a:ext cx="8430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 clair 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 : données brutes → nettoyage → analyse → résultats → affichage. Un pipeline complet, automatique et en temps réel.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ShieldAI ULTRA Mérite la 1ère Place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où une solution basique dit OUI ou NON selon des règles fixes, ShieldAI ULTRA adapte son analyse à chaque client individuellement — comme un expert humain.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69848"/>
            <a:ext cx="1993392" cy="411480"/>
          </a:xfrm>
          <a:prstGeom prst="rect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06984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069848"/>
            <a:ext cx="2221992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86584" y="106984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basique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69848"/>
            <a:ext cx="2221992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106984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03720" y="1069848"/>
            <a:ext cx="1993392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58584" y="106984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compte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527048"/>
            <a:ext cx="199339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1572768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31720" y="1527048"/>
            <a:ext cx="222199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95728" y="1572768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fixes statiques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527048"/>
            <a:ext cx="2221992" cy="338328"/>
          </a:xfrm>
          <a:prstGeom prst="rect">
            <a:avLst/>
          </a:prstGeom>
          <a:solidFill>
            <a:srgbClr val="EFF6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1572768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signaux adaptatifs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1527048"/>
            <a:ext cx="1993392" cy="338328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7728" y="1572768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S'adapte à chaque fraudeur, pas seulement aux connus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1901952"/>
            <a:ext cx="1993392" cy="33832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1947672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31720" y="1901952"/>
            <a:ext cx="2221992" cy="33832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95728" y="1947672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 ou inconnu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1901952"/>
            <a:ext cx="2221992" cy="338328"/>
          </a:xfrm>
          <a:prstGeom prst="rect">
            <a:avLst/>
          </a:prstGeom>
          <a:solidFill>
            <a:srgbClr val="DBEAFE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1947672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 — 100% ✓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03720" y="1901952"/>
            <a:ext cx="1993392" cy="338328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67728" y="1947672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jury confirme : notre système est complet et correct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276856"/>
            <a:ext cx="199339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" y="2322576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clients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331720" y="2276856"/>
            <a:ext cx="222199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95728" y="2322576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— même règle pour tous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2276856"/>
            <a:ext cx="2221992" cy="338328"/>
          </a:xfrm>
          <a:prstGeom prst="rect">
            <a:avLst/>
          </a:prstGeom>
          <a:solidFill>
            <a:srgbClr val="EFF6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2322576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— historique unique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03720" y="2276856"/>
            <a:ext cx="1993392" cy="338328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67728" y="2322576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profil ≠ profil de quelqu'un d'autre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2651760"/>
            <a:ext cx="1993392" cy="33832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" y="2697480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Géographie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331720" y="2651760"/>
            <a:ext cx="2221992" cy="33832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95728" y="2697480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17720" y="2651760"/>
            <a:ext cx="2221992" cy="338328"/>
          </a:xfrm>
          <a:prstGeom prst="rect">
            <a:avLst/>
          </a:prstGeom>
          <a:solidFill>
            <a:srgbClr val="DBEAFE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2697480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— temps réel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903720" y="2651760"/>
            <a:ext cx="1993392" cy="338328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67728" y="2697480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+ Tokyo en même temps = impossible = fraude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3026664"/>
            <a:ext cx="199339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" y="3072384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331720" y="3026664"/>
            <a:ext cx="222199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95728" y="3072384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17720" y="3026664"/>
            <a:ext cx="2221992" cy="338328"/>
          </a:xfrm>
          <a:prstGeom prst="rect">
            <a:avLst/>
          </a:prstGeom>
          <a:solidFill>
            <a:srgbClr val="EFF6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81728" y="3072384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— 4 graphiques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03720" y="3026664"/>
            <a:ext cx="1993392" cy="338328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67728" y="3072384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= décider plus vite, sans erreur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3401568"/>
            <a:ext cx="1993392" cy="33832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8328" y="3447288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rapport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331720" y="3401568"/>
            <a:ext cx="2221992" cy="33832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95728" y="3447288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17720" y="3401568"/>
            <a:ext cx="2221992" cy="338328"/>
          </a:xfrm>
          <a:prstGeom prst="rect">
            <a:avLst/>
          </a:prstGeom>
          <a:solidFill>
            <a:srgbClr val="DBEAFE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81728" y="3447288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— CSV en 1 clic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903720" y="3401568"/>
            <a:ext cx="1993392" cy="338328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67728" y="3447288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rapport est prêt pour le service juridique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74320" y="3776472"/>
            <a:ext cx="199339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8328" y="3822192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331720" y="3776472"/>
            <a:ext cx="222199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95728" y="3822192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(numpy/pandas)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617720" y="3776472"/>
            <a:ext cx="2221992" cy="338328"/>
          </a:xfrm>
          <a:prstGeom prst="rect">
            <a:avLst/>
          </a:prstGeom>
          <a:solidFill>
            <a:srgbClr val="EFF6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81728" y="3822192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— 0 erreur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903720" y="3776472"/>
            <a:ext cx="1993392" cy="338328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67728" y="3822192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code fonctionne sur la version la plus récente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74320" y="4151376"/>
            <a:ext cx="1993392" cy="33832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8328" y="4197096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331720" y="4151376"/>
            <a:ext cx="2221992" cy="33832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395728" y="4197096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Nombreux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617720" y="4151376"/>
            <a:ext cx="2221992" cy="338328"/>
          </a:xfrm>
          <a:prstGeom prst="rect">
            <a:avLst/>
          </a:prstGeom>
          <a:solidFill>
            <a:srgbClr val="DBEAFE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81728" y="4197096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Calibrés — IQR + seuils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903720" y="4151376"/>
            <a:ext cx="1993392" cy="338328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67728" y="4197096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clients bloqués à tort = meilleure expérience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74320" y="4572000"/>
            <a:ext cx="539496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7472" y="4590288"/>
            <a:ext cx="5248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 : https://github.com/INTELO2026/fraud-challenge/pull/42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806440" y="4572000"/>
            <a:ext cx="3063240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79592" y="4590288"/>
            <a:ext cx="2916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CI : 11/11 — 100% ✓ parfait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137160"/>
            <a:ext cx="2560320" cy="256032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337560" y="1828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🛡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926080" y="3127248"/>
            <a:ext cx="32918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18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venez de voir en résumé 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547872"/>
            <a:ext cx="251460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5935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2793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 tests validés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fraude manquée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6072" y="4617720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jury a testé notre code avec 11 scénarios. Nous avons tout réussi.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46120" y="3547872"/>
            <a:ext cx="251460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5935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91840" y="4023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42793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 compatible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bibliothèque externe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19272" y="4617720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fonctionne seul, sans aucun logiciel supplémentaire.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89320" y="3547872"/>
            <a:ext cx="251460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35935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035040" y="4023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LISIBILITÉ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42793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professionnel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en 5 secondes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62472" y="4617720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quelqu'un sans formation technique comprend l'écran.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Questions 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ShieldAI ULTRA — Hackathon IT 2026</dc:title>
  <dc:subject>PptxGenJS Presentation</dc:subject>
  <dc:creator>LUC-cmd</dc:creator>
  <cp:lastModifiedBy>LUC-cmd</cp:lastModifiedBy>
  <cp:revision>1</cp:revision>
  <dcterms:created xsi:type="dcterms:W3CDTF">2026-06-06T13:38:45Z</dcterms:created>
  <dcterms:modified xsi:type="dcterms:W3CDTF">2026-06-06T13:38:45Z</dcterms:modified>
</cp:coreProperties>
</file>